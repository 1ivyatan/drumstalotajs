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0"/>
  </p:notesMasterIdLst>
  <p:handoutMasterIdLst>
    <p:handoutMasterId r:id="rId81"/>
  </p:handoutMasterIdLst>
  <p:sldIdLst>
    <p:sldId id="256" r:id="rId5"/>
    <p:sldId id="285" r:id="rId6"/>
    <p:sldId id="257" r:id="rId7"/>
    <p:sldId id="286" r:id="rId8"/>
    <p:sldId id="287" r:id="rId9"/>
    <p:sldId id="316" r:id="rId10"/>
    <p:sldId id="318" r:id="rId11"/>
    <p:sldId id="317" r:id="rId12"/>
    <p:sldId id="288" r:id="rId13"/>
    <p:sldId id="258" r:id="rId14"/>
    <p:sldId id="292" r:id="rId15"/>
    <p:sldId id="294" r:id="rId16"/>
    <p:sldId id="289" r:id="rId17"/>
    <p:sldId id="293" r:id="rId18"/>
    <p:sldId id="296" r:id="rId19"/>
    <p:sldId id="321" r:id="rId20"/>
    <p:sldId id="323" r:id="rId21"/>
    <p:sldId id="297" r:id="rId22"/>
    <p:sldId id="322" r:id="rId23"/>
    <p:sldId id="324" r:id="rId24"/>
    <p:sldId id="325" r:id="rId25"/>
    <p:sldId id="337" r:id="rId26"/>
    <p:sldId id="326" r:id="rId27"/>
    <p:sldId id="327" r:id="rId28"/>
    <p:sldId id="329" r:id="rId29"/>
    <p:sldId id="332" r:id="rId30"/>
    <p:sldId id="334" r:id="rId31"/>
    <p:sldId id="331" r:id="rId32"/>
    <p:sldId id="335" r:id="rId33"/>
    <p:sldId id="336" r:id="rId34"/>
    <p:sldId id="259" r:id="rId35"/>
    <p:sldId id="310" r:id="rId36"/>
    <p:sldId id="305" r:id="rId37"/>
    <p:sldId id="308" r:id="rId38"/>
    <p:sldId id="309" r:id="rId39"/>
    <p:sldId id="319" r:id="rId40"/>
    <p:sldId id="320" r:id="rId41"/>
    <p:sldId id="306" r:id="rId42"/>
    <p:sldId id="307" r:id="rId43"/>
    <p:sldId id="311" r:id="rId44"/>
    <p:sldId id="314" r:id="rId45"/>
    <p:sldId id="315" r:id="rId46"/>
    <p:sldId id="312" r:id="rId47"/>
    <p:sldId id="313" r:id="rId48"/>
    <p:sldId id="338" r:id="rId49"/>
    <p:sldId id="339" r:id="rId50"/>
    <p:sldId id="340" r:id="rId51"/>
    <p:sldId id="341" r:id="rId52"/>
    <p:sldId id="303" r:id="rId53"/>
    <p:sldId id="302" r:id="rId54"/>
    <p:sldId id="304" r:id="rId55"/>
    <p:sldId id="261" r:id="rId56"/>
    <p:sldId id="262" r:id="rId57"/>
    <p:sldId id="263" r:id="rId58"/>
    <p:sldId id="264" r:id="rId59"/>
    <p:sldId id="265" r:id="rId60"/>
    <p:sldId id="266" r:id="rId61"/>
    <p:sldId id="267" r:id="rId62"/>
    <p:sldId id="268" r:id="rId63"/>
    <p:sldId id="269" r:id="rId64"/>
    <p:sldId id="270" r:id="rId65"/>
    <p:sldId id="271" r:id="rId66"/>
    <p:sldId id="272" r:id="rId67"/>
    <p:sldId id="273" r:id="rId68"/>
    <p:sldId id="274" r:id="rId69"/>
    <p:sldId id="275" r:id="rId70"/>
    <p:sldId id="276" r:id="rId71"/>
    <p:sldId id="277" r:id="rId72"/>
    <p:sldId id="278" r:id="rId73"/>
    <p:sldId id="279" r:id="rId74"/>
    <p:sldId id="280" r:id="rId75"/>
    <p:sldId id="281" r:id="rId76"/>
    <p:sldId id="282" r:id="rId77"/>
    <p:sldId id="283" r:id="rId78"/>
    <p:sldId id="284" r:id="rId79"/>
  </p:sldIdLst>
  <p:sldSz cx="12192000" cy="6858000"/>
  <p:notesSz cx="6858000" cy="9144000"/>
  <p:defaultTextStyle>
    <a:defPPr rtl="0"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ors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Vidējs stils 2 - izcēlum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Vidējs stils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7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microsoft.com/office/2018/10/relationships/authors" Target="authors.xml"/><Relationship Id="rId61" Type="http://schemas.openxmlformats.org/officeDocument/2006/relationships/slide" Target="slides/slide57.xml"/><Relationship Id="rId8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lvenes vietturis 1">
            <a:extLst>
              <a:ext uri="{FF2B5EF4-FFF2-40B4-BE49-F238E27FC236}">
                <a16:creationId xmlns:a16="http://schemas.microsoft.com/office/drawing/2014/main" id="{9B5B42BD-8D3B-4B09-9029-8C63687D5D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lv-LV"/>
          </a:p>
        </p:txBody>
      </p:sp>
      <p:sp>
        <p:nvSpPr>
          <p:cNvPr id="3" name="Datuma vietturis 2">
            <a:extLst>
              <a:ext uri="{FF2B5EF4-FFF2-40B4-BE49-F238E27FC236}">
                <a16:creationId xmlns:a16="http://schemas.microsoft.com/office/drawing/2014/main" id="{1E2EC764-34EA-4620-8CF9-F605D96BC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340BE89-99F8-4DEA-A196-98AA103604A9}" type="datetime1">
              <a:rPr lang="lv-LV" smtClean="0"/>
              <a:t>14.06.2026</a:t>
            </a:fld>
            <a:endParaRPr lang="lv-LV"/>
          </a:p>
        </p:txBody>
      </p:sp>
      <p:sp>
        <p:nvSpPr>
          <p:cNvPr id="4" name="Kājenes vietturis 3">
            <a:extLst>
              <a:ext uri="{FF2B5EF4-FFF2-40B4-BE49-F238E27FC236}">
                <a16:creationId xmlns:a16="http://schemas.microsoft.com/office/drawing/2014/main" id="{3C1FA7CC-A0A2-4292-AA1A-FFA1D3AC96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lv-LV"/>
          </a:p>
        </p:txBody>
      </p:sp>
      <p:sp>
        <p:nvSpPr>
          <p:cNvPr id="5" name="Slaida numura vietturis 4">
            <a:extLst>
              <a:ext uri="{FF2B5EF4-FFF2-40B4-BE49-F238E27FC236}">
                <a16:creationId xmlns:a16="http://schemas.microsoft.com/office/drawing/2014/main" id="{36C9D8F1-C311-48E0-A5EA-6AC70E14D0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827EC1-36E0-417D-8141-8D14DF1BDFD9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6458522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lvenes vietturi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lv-LV" noProof="0"/>
          </a:p>
        </p:txBody>
      </p:sp>
      <p:sp>
        <p:nvSpPr>
          <p:cNvPr id="3" name="Datuma vietturi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AA59361-939B-4603-8A5C-F5C08C81B8CD}" type="datetime1">
              <a:rPr lang="lv-LV" noProof="0" smtClean="0"/>
              <a:t>14.06.2026</a:t>
            </a:fld>
            <a:endParaRPr lang="lv-LV" noProof="0"/>
          </a:p>
        </p:txBody>
      </p:sp>
      <p:sp>
        <p:nvSpPr>
          <p:cNvPr id="4" name="Slaida attēla vietturi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lv-LV" noProof="0"/>
          </a:p>
        </p:txBody>
      </p:sp>
      <p:sp>
        <p:nvSpPr>
          <p:cNvPr id="5" name="Piezīmju vietturi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lv-LV" noProof="0"/>
              <a:t>Noklikšķiniet, lai rediģētu šablona tekstu stilus</a:t>
            </a:r>
          </a:p>
          <a:p>
            <a:pPr lvl="1" rtl="0"/>
            <a:r>
              <a:rPr lang="lv-LV" noProof="0"/>
              <a:t>Otrais līmenis</a:t>
            </a:r>
          </a:p>
          <a:p>
            <a:pPr lvl="2" rtl="0"/>
            <a:r>
              <a:rPr lang="lv-LV" noProof="0"/>
              <a:t>Trešais līmenis</a:t>
            </a:r>
          </a:p>
          <a:p>
            <a:pPr lvl="3" rtl="0"/>
            <a:r>
              <a:rPr lang="lv-LV" noProof="0"/>
              <a:t>Ceturtais līmenis</a:t>
            </a:r>
          </a:p>
          <a:p>
            <a:pPr lvl="4" rtl="0"/>
            <a:r>
              <a:rPr lang="lv-LV" noProof="0"/>
              <a:t>Piektais līmenis</a:t>
            </a:r>
          </a:p>
        </p:txBody>
      </p:sp>
      <p:sp>
        <p:nvSpPr>
          <p:cNvPr id="6" name="Kājenes vietturi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lv-LV" noProof="0"/>
          </a:p>
        </p:txBody>
      </p:sp>
      <p:sp>
        <p:nvSpPr>
          <p:cNvPr id="7" name="Slaida numura vietturi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5BAF473-2665-42A7-89E3-C7BA7EB58D12}" type="slidenum">
              <a:rPr lang="lv-LV" noProof="0" smtClean="0"/>
              <a:t>‹#›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lv-LV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5BAF473-2665-42A7-89E3-C7BA7EB58D12}" type="slidenum">
              <a:rPr lang="lv-LV" smtClean="0"/>
              <a:t>1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83339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13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414791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3B82A-0BF7-7106-26FE-C2E105B2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2EAF05F0-922E-D656-B278-A32142B19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0F58FC38-1704-40AD-437D-1BB8B108F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4DB34094-A0E0-C332-3015-74C43A7AB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14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49304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367FD-2D90-C703-C103-23ABF77B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84FD1BC7-DE19-3FF7-24CB-430DE0DD4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D41B953C-080C-D504-3E9C-87A56AF26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68993DA4-A442-5263-81E2-1A36761EB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15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981319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86A3-5661-4255-96C6-767CB479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31A9AE39-EECD-6DCA-41E2-6E807B1A7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8058173B-125B-B7E9-F2DA-F459538F6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5A42E67D-2BF7-C0EB-5892-CAB5703EB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18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3166721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52CC9-BB6A-D927-B299-B556DBEC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53718371-51ED-89F4-94E9-4FB30FF78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C0223822-CF4A-5792-3A11-C381086D2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144C997E-D006-B753-905A-120C5F578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22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268660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62A9C-E682-EB43-2618-CA07E2C43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7D9A87DB-EB3B-286D-FB03-50D0FAC70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95FD26DB-D9FA-0903-9363-1C5990923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3657B54F-439B-2414-3DCC-B6B6CB093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29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178779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C2A1-7494-F784-C629-E9C9BF2D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ida attēla vietturis 1">
            <a:extLst>
              <a:ext uri="{FF2B5EF4-FFF2-40B4-BE49-F238E27FC236}">
                <a16:creationId xmlns:a16="http://schemas.microsoft.com/office/drawing/2014/main" id="{2785221C-AD45-087E-2A4A-B0F4E6EBF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iezīmju vietturis 2">
            <a:extLst>
              <a:ext uri="{FF2B5EF4-FFF2-40B4-BE49-F238E27FC236}">
                <a16:creationId xmlns:a16="http://schemas.microsoft.com/office/drawing/2014/main" id="{7F3A9CCF-5485-B195-5A67-86DA57BCD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v-LV" dirty="0"/>
          </a:p>
        </p:txBody>
      </p:sp>
      <p:sp>
        <p:nvSpPr>
          <p:cNvPr id="4" name="Slaida numura vietturis 3">
            <a:extLst>
              <a:ext uri="{FF2B5EF4-FFF2-40B4-BE49-F238E27FC236}">
                <a16:creationId xmlns:a16="http://schemas.microsoft.com/office/drawing/2014/main" id="{3E6396BE-8EE3-4EC0-3018-806591516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lv-LV" noProof="0" smtClean="0"/>
              <a:t>30</a:t>
            </a:fld>
            <a:endParaRPr lang="lv-LV" noProof="0"/>
          </a:p>
        </p:txBody>
      </p:sp>
    </p:spTree>
    <p:extLst>
      <p:ext uri="{BB962C8B-B14F-4D97-AF65-F5344CB8AC3E}">
        <p14:creationId xmlns:p14="http://schemas.microsoft.com/office/powerpoint/2010/main" val="876814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irsraksta slaid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isnstūris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465970"/>
            <a:ext cx="5739882" cy="2387600"/>
          </a:xfrm>
        </p:spPr>
        <p:txBody>
          <a:bodyPr rtlCol="0"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Apakšvirsraksts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lv-LV" noProof="0"/>
              <a:t>Noklikšķiniet, lai rediģētu šablona apakšvirsraksta stilu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rsraksts un satu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2595562"/>
            <a:ext cx="5684520" cy="318103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9" name="Taisnstūris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aisnstūris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aisnstūris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laida numura vietturis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s un divi satura blok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595562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9" name="Taisnstūris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aisnstūris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aisnstūris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atura vietturis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529818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lv-LV" noProof="0"/>
              <a:t>Noklikšķiniet, lai rediģētu šablona tekstu stilus</a:t>
            </a:r>
          </a:p>
        </p:txBody>
      </p:sp>
      <p:sp>
        <p:nvSpPr>
          <p:cNvPr id="8" name="Satura vietturis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8200" y="3040514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0" name="Satura vietturis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993888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56CF1EF3-47EB-0FC8-C471-9E4606A593A5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>
                <a:solidFill>
                  <a:schemeClr val="bg1"/>
                </a:solidFill>
              </a:rPr>
              <a:pPr/>
              <a:t>‹#›</a:t>
            </a:fld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s un četri satura blok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irsraksts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742" y="822325"/>
            <a:ext cx="9329058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8" name="Satura vietturis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24742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0" name="Taisnstūris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aisnstūris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atura vietturis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019111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5" name="Satura vietturis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024742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6" name="Satura vietturis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019111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7" name="Satura vietturis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024740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8" name="Satura vietturis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019109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9" name="Satura vietturis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024740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20" name="Satura vietturis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019109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2" name="Slaida numura vietturis 6">
            <a:extLst>
              <a:ext uri="{FF2B5EF4-FFF2-40B4-BE49-F238E27FC236}">
                <a16:creationId xmlns:a16="http://schemas.microsoft.com/office/drawing/2014/main" id="{89F224E0-CA88-860E-5908-E4AA40DFBCA8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s un kreisais satu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irsraksts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virsrakstu</a:t>
            </a:r>
          </a:p>
        </p:txBody>
      </p:sp>
      <p:sp>
        <p:nvSpPr>
          <p:cNvPr id="8" name="Satura vietturis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3480" y="4879291"/>
            <a:ext cx="5684520" cy="13255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0" name="Taisnstūris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-1820708"/>
            <a:ext cx="121920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aisnstūris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aisnstūris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1608292"/>
            <a:ext cx="4180114" cy="52497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aida numura vietturis 6">
            <a:extLst>
              <a:ext uri="{FF2B5EF4-FFF2-40B4-BE49-F238E27FC236}">
                <a16:creationId xmlns:a16="http://schemas.microsoft.com/office/drawing/2014/main" id="{024AE987-AB2C-B9A0-CE42-5B273FAE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ra teksts ar augšējo apmali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4" name="Taisnstūris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aida numura vietturis 6">
            <a:extLst>
              <a:ext uri="{FF2B5EF4-FFF2-40B4-BE49-F238E27FC236}">
                <a16:creationId xmlns:a16="http://schemas.microsoft.com/office/drawing/2014/main" id="{C1DD352D-4AF8-3AAB-893E-15EC13B4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ra tekst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5" name="Taisnstūris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aisnstūris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64FF2452-A8E8-117D-F41A-A5F808B3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etri satura bloki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isnstūris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9" name="Teksta vietturis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1</a:t>
            </a:r>
          </a:p>
        </p:txBody>
      </p:sp>
      <p:sp>
        <p:nvSpPr>
          <p:cNvPr id="11" name="Teksta vietturis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2</a:t>
            </a:r>
          </a:p>
        </p:txBody>
      </p:sp>
      <p:sp>
        <p:nvSpPr>
          <p:cNvPr id="13" name="Teksta vietturis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3</a:t>
            </a:r>
          </a:p>
        </p:txBody>
      </p:sp>
      <p:sp>
        <p:nvSpPr>
          <p:cNvPr id="15" name="Teksta vietturis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4</a:t>
            </a:r>
          </a:p>
        </p:txBody>
      </p:sp>
      <p:sp>
        <p:nvSpPr>
          <p:cNvPr id="21" name="Tiešsaistes attēla vietturis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2" name="Tiešsaistes attēla vietturis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3" name="Tiešsaistes attēla vietturis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4" name="Tiešsaistes attēla vietturis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5327FEC8-DAA6-D144-4544-A767ECF5CA3C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sraksts, saturs un četri attēl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isnstūris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aisnstūris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3200400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Noklikšķiniet, lai rediģētu šablona virsraksta stilu</a:t>
            </a:r>
          </a:p>
        </p:txBody>
      </p:sp>
      <p:sp>
        <p:nvSpPr>
          <p:cNvPr id="9" name="Teksta vietturis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1</a:t>
            </a:r>
          </a:p>
        </p:txBody>
      </p:sp>
      <p:sp>
        <p:nvSpPr>
          <p:cNvPr id="11" name="Teksta vietturis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2</a:t>
            </a:r>
          </a:p>
        </p:txBody>
      </p:sp>
      <p:sp>
        <p:nvSpPr>
          <p:cNvPr id="13" name="Teksta vietturis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3</a:t>
            </a:r>
          </a:p>
        </p:txBody>
      </p:sp>
      <p:sp>
        <p:nvSpPr>
          <p:cNvPr id="15" name="Teksta vietturis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4</a:t>
            </a:r>
          </a:p>
        </p:txBody>
      </p:sp>
      <p:sp>
        <p:nvSpPr>
          <p:cNvPr id="21" name="Tiešsaistes attēla vietturis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2" name="Tiešsaistes attēla vietturis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3" name="Tiešsaistes attēla vietturis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4" name="Tiešsaistes attēla vietturis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5" name="Teksta vietturis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8200" y="4112198"/>
            <a:ext cx="3200400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16" name="Teksta vietturis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1</a:t>
            </a:r>
          </a:p>
        </p:txBody>
      </p:sp>
      <p:sp>
        <p:nvSpPr>
          <p:cNvPr id="17" name="Teksta vietturis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2</a:t>
            </a:r>
          </a:p>
        </p:txBody>
      </p:sp>
      <p:sp>
        <p:nvSpPr>
          <p:cNvPr id="18" name="Teksta vietturis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3</a:t>
            </a:r>
          </a:p>
        </p:txBody>
      </p:sp>
      <p:sp>
        <p:nvSpPr>
          <p:cNvPr id="19" name="Teksta vietturis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4</a:t>
            </a:r>
          </a:p>
        </p:txBody>
      </p:sp>
      <p:sp>
        <p:nvSpPr>
          <p:cNvPr id="28" name="Teksta vietturis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8201" y="5511642"/>
            <a:ext cx="3200400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2F156D44-9356-92BC-1A9C-9B5977F17E3C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rsraksts, saturs un četri attēl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isnstūris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3333919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aisnstūris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3333919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497" y="365125"/>
            <a:ext cx="2718587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Noklikšķiniet, lai rediģētu šablona virsraksta stilu</a:t>
            </a:r>
          </a:p>
        </p:txBody>
      </p:sp>
      <p:sp>
        <p:nvSpPr>
          <p:cNvPr id="9" name="Teksta vietturis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01447" y="2131457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1</a:t>
            </a:r>
          </a:p>
        </p:txBody>
      </p:sp>
      <p:sp>
        <p:nvSpPr>
          <p:cNvPr id="11" name="Teksta vietturis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047913" y="2131457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2</a:t>
            </a:r>
          </a:p>
        </p:txBody>
      </p:sp>
      <p:sp>
        <p:nvSpPr>
          <p:cNvPr id="13" name="Teksta vietturis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02197" y="4874657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3</a:t>
            </a:r>
          </a:p>
        </p:txBody>
      </p:sp>
      <p:sp>
        <p:nvSpPr>
          <p:cNvPr id="15" name="Teksta vietturis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042713" y="4874657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4</a:t>
            </a:r>
          </a:p>
        </p:txBody>
      </p:sp>
      <p:sp>
        <p:nvSpPr>
          <p:cNvPr id="21" name="Tiešsaistes attēla vietturis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4669109" y="643469"/>
            <a:ext cx="2272740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Lai pievienotu tiešsaistes attēlu, noklikšķiniet uz ikonas</a:t>
            </a:r>
          </a:p>
        </p:txBody>
      </p:sp>
      <p:sp>
        <p:nvSpPr>
          <p:cNvPr id="22" name="Tiešsaistes attēla vietturis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8515200" y="643469"/>
            <a:ext cx="2272740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Lai pievienotu tiešsaistes attēlu, noklikšķiniet uz ikonas</a:t>
            </a:r>
          </a:p>
        </p:txBody>
      </p:sp>
      <p:sp>
        <p:nvSpPr>
          <p:cNvPr id="23" name="Tiešsaistes attēla vietturis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4669109" y="3385457"/>
            <a:ext cx="2272740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Lai pievienotu tiešsaistes attēlu, noklikšķiniet uz ikonas</a:t>
            </a:r>
          </a:p>
        </p:txBody>
      </p:sp>
      <p:sp>
        <p:nvSpPr>
          <p:cNvPr id="24" name="Tiešsaistes attēla vietturis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8510187" y="3385457"/>
            <a:ext cx="2272740" cy="1474788"/>
          </a:xfrm>
        </p:spPr>
        <p:txBody>
          <a:bodyPr rtlCol="0">
            <a:normAutofit/>
          </a:bodyPr>
          <a:lstStyle>
            <a:lvl1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Lai pievienotu tiešsaistes attēlu, noklikšķiniet uz ikonas</a:t>
            </a:r>
          </a:p>
        </p:txBody>
      </p:sp>
      <p:sp>
        <p:nvSpPr>
          <p:cNvPr id="5" name="Teksta vietturis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07497" y="4112198"/>
            <a:ext cx="2718587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 dirty="0"/>
              <a:t>Noklikšķiniet, lai rediģētu šablona tekstu stilus</a:t>
            </a:r>
          </a:p>
        </p:txBody>
      </p:sp>
      <p:sp>
        <p:nvSpPr>
          <p:cNvPr id="16" name="Teksta vietturis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201447" y="2577595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1</a:t>
            </a:r>
          </a:p>
        </p:txBody>
      </p:sp>
      <p:sp>
        <p:nvSpPr>
          <p:cNvPr id="17" name="Teksta vietturis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47913" y="2577595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2</a:t>
            </a:r>
          </a:p>
        </p:txBody>
      </p:sp>
      <p:sp>
        <p:nvSpPr>
          <p:cNvPr id="18" name="Teksta vietturis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202197" y="5320795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3</a:t>
            </a:r>
          </a:p>
        </p:txBody>
      </p:sp>
      <p:sp>
        <p:nvSpPr>
          <p:cNvPr id="19" name="Teksta vietturis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42713" y="5320795"/>
            <a:ext cx="3240735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Aizzīme 4</a:t>
            </a:r>
          </a:p>
        </p:txBody>
      </p:sp>
      <p:sp>
        <p:nvSpPr>
          <p:cNvPr id="28" name="Teksta vietturis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07498" y="5511642"/>
            <a:ext cx="2718587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 dirty="0"/>
              <a:t>Noklikšķiniet, lai rediģētu šablona tekstu stilus</a:t>
            </a: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2F156D44-9356-92BC-1A9C-9B5977F17E3C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773709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ācijas diagramm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95037"/>
            <a:ext cx="4573200" cy="1325563"/>
          </a:xfrm>
        </p:spPr>
        <p:txBody>
          <a:bodyPr rtlCol="0"/>
          <a:lstStyle>
            <a:lvl1pPr algn="l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9" name="Teksta vietturis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14" name="Teksta vietturis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16" name="Teksta vietturis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17" name="Teksta vietturis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18" name="Teksta vietturis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19" name="Teksta vietturis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20" name="Teksta vietturis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25" name="Teksta vietturis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26" name="Teksta vietturis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27" name="Teksta vietturis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28" name="Teksta vietturis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29" name="Teksta vietturis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cxnSp>
        <p:nvCxnSpPr>
          <p:cNvPr id="5" name="Taisns savienotājs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Taisns savienotājs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Taisns savienotājs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Taisns savienotājs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Taisns savienotājs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Taisns savienotājs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aida numura vietturis 6">
            <a:extLst>
              <a:ext uri="{FF2B5EF4-FFF2-40B4-BE49-F238E27FC236}">
                <a16:creationId xmlns:a16="http://schemas.microsoft.com/office/drawing/2014/main" id="{7B0634AA-605E-B925-50DC-2D1F08B6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irsraksts un labās puses satur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2376805"/>
            <a:ext cx="501396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Satura vietturis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4150042"/>
            <a:ext cx="5013960" cy="196119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lv-LV" noProof="0"/>
              <a:t>Noklikšķiniet, lai rediģētu šablona tekstu stilus</a:t>
            </a:r>
          </a:p>
        </p:txBody>
      </p:sp>
      <p:sp>
        <p:nvSpPr>
          <p:cNvPr id="9" name="Taisnstūris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aisnstūris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aida numura vietturis 6">
            <a:extLst>
              <a:ext uri="{FF2B5EF4-FFF2-40B4-BE49-F238E27FC236}">
                <a16:creationId xmlns:a16="http://schemas.microsoft.com/office/drawing/2014/main" id="{DA1CED08-BABA-FDA7-62BB-96493856B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obeiguma slaid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isnstūris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313571"/>
            <a:ext cx="4419600" cy="1659716"/>
          </a:xfrm>
        </p:spPr>
        <p:txBody>
          <a:bodyPr rtlCol="0"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 dirty="0"/>
              <a:t>Noklikšķiniet, lai rediģētu</a:t>
            </a:r>
          </a:p>
        </p:txBody>
      </p:sp>
      <p:sp>
        <p:nvSpPr>
          <p:cNvPr id="3" name="Apakšvirsraksts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2743200" cy="1659715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lv-LV" noProof="0"/>
              <a:t>Noklikšķiniet, lai rediģētu šablona apakšvirsraksta stilu</a:t>
            </a:r>
          </a:p>
        </p:txBody>
      </p:sp>
      <p:sp>
        <p:nvSpPr>
          <p:cNvPr id="8" name="Slaida numura vietturis 6">
            <a:extLst>
              <a:ext uri="{FF2B5EF4-FFF2-40B4-BE49-F238E27FC236}">
                <a16:creationId xmlns:a16="http://schemas.microsoft.com/office/drawing/2014/main" id="{A9A1FAB7-1F83-C249-8FC4-BA7580BD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daļas galven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isnstūris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aisnstūris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lv-LV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Virsraksts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429000"/>
            <a:ext cx="10515600" cy="3080657"/>
          </a:xfrm>
        </p:spPr>
        <p:txBody>
          <a:bodyPr rtlCol="0" anchor="ctr"/>
          <a:lstStyle>
            <a:lvl1pPr>
              <a:defRPr sz="6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mandas slaid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6" name="Attēla vietturis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lv-LV" noProof="0"/>
              <a:t>Noklikšķiniet uz ikonas, lai pievienotu attēlu</a:t>
            </a:r>
            <a:endParaRPr lang="lv-LV" noProof="0" dirty="0"/>
          </a:p>
        </p:txBody>
      </p:sp>
      <p:sp>
        <p:nvSpPr>
          <p:cNvPr id="7" name="Attēla vietturis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lv-LV" noProof="0"/>
              <a:t>Noklikšķiniet uz ikonas, lai pievienotu attēlu</a:t>
            </a:r>
          </a:p>
        </p:txBody>
      </p:sp>
      <p:sp>
        <p:nvSpPr>
          <p:cNvPr id="8" name="Attēla vietturis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lv-LV" noProof="0"/>
              <a:t>Noklikšķiniet uz ikonas, lai pievienotu attēlu</a:t>
            </a:r>
          </a:p>
        </p:txBody>
      </p:sp>
      <p:sp>
        <p:nvSpPr>
          <p:cNvPr id="9" name="Attēla vietturis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lv-LV" noProof="0"/>
              <a:t>Noklikšķiniet uz ikonas, lai pievienotu attēlu</a:t>
            </a:r>
          </a:p>
        </p:txBody>
      </p:sp>
      <p:sp>
        <p:nvSpPr>
          <p:cNvPr id="11" name="Teksta vietturis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12" name="Teksta vietturis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16" name="Teksta vietturis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17" name="Teksta vietturis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19" name="Teksta vietturis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20" name="Teksta vietturis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22" name="Teksta vietturis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Vārds, uzvārds</a:t>
            </a:r>
          </a:p>
        </p:txBody>
      </p:sp>
      <p:sp>
        <p:nvSpPr>
          <p:cNvPr id="23" name="Teksta vietturis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rtl="0"/>
            <a:r>
              <a:rPr lang="lv-LV" noProof="0"/>
              <a:t>Virsraksts</a:t>
            </a:r>
          </a:p>
        </p:txBody>
      </p:sp>
      <p:sp>
        <p:nvSpPr>
          <p:cNvPr id="3" name="Slaida numura vietturis 6">
            <a:extLst>
              <a:ext uri="{FF2B5EF4-FFF2-40B4-BE49-F238E27FC236}">
                <a16:creationId xmlns:a16="http://schemas.microsoft.com/office/drawing/2014/main" id="{FF925D13-6BA3-E432-413E-9BCA16FAF483}"/>
              </a:ext>
            </a:extLst>
          </p:cNvPr>
          <p:cNvSpPr txBox="1">
            <a:spLocks/>
          </p:cNvSpPr>
          <p:nvPr userDrawn="1"/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lv-LV"/>
            </a:defPPr>
            <a:lvl1pPr marL="0" algn="r" defTabSz="914400" rtl="0" eaLnBrk="1" latinLnBrk="0" hangingPunct="1">
              <a:defRPr sz="2800" kern="1200"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a vietturis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lv-LV" noProof="0"/>
              <a:t>Noklikšķiniet, lai rediģētu šablona virsraksta stilu</a:t>
            </a:r>
          </a:p>
        </p:txBody>
      </p:sp>
      <p:sp>
        <p:nvSpPr>
          <p:cNvPr id="3" name="Teksta vietturis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lv-LV" noProof="0"/>
              <a:t>Noklikšķiniet, lai rediģētu šablona tekstu stilus</a:t>
            </a:r>
          </a:p>
          <a:p>
            <a:pPr lvl="1" rtl="0"/>
            <a:r>
              <a:rPr lang="lv-LV" noProof="0"/>
              <a:t>Otrais līmenis</a:t>
            </a:r>
          </a:p>
          <a:p>
            <a:pPr lvl="2" rtl="0"/>
            <a:r>
              <a:rPr lang="lv-LV" noProof="0"/>
              <a:t>Trešais līmenis</a:t>
            </a:r>
          </a:p>
          <a:p>
            <a:pPr lvl="3" rtl="0"/>
            <a:r>
              <a:rPr lang="lv-LV" noProof="0"/>
              <a:t>Ceturtais līmenis</a:t>
            </a:r>
          </a:p>
          <a:p>
            <a:pPr lvl="4" rtl="0"/>
            <a:r>
              <a:rPr lang="lv-LV" noProof="0"/>
              <a:t>Piektais līmenis</a:t>
            </a:r>
          </a:p>
        </p:txBody>
      </p:sp>
      <p:sp>
        <p:nvSpPr>
          <p:cNvPr id="8" name="Slaida numura vietturis 6">
            <a:extLst>
              <a:ext uri="{FF2B5EF4-FFF2-40B4-BE49-F238E27FC236}">
                <a16:creationId xmlns:a16="http://schemas.microsoft.com/office/drawing/2014/main" id="{FE0DD214-AD46-D071-80A6-E64277720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24270"/>
            <a:ext cx="2743200" cy="497205"/>
          </a:xfrm>
          <a:prstGeom prst="rect">
            <a:avLst/>
          </a:prstGeom>
        </p:spPr>
        <p:txBody>
          <a:bodyPr rtlCol="0"/>
          <a:lstStyle>
            <a:lvl1pPr algn="r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5CEABB6-07DC-46E8-9B57-56EC44A396E5}" type="slidenum">
              <a:rPr lang="lv-LV" smtClean="0"/>
              <a:pPr/>
              <a:t>‹#›</a:t>
            </a:fld>
            <a:endParaRPr lang="lv-LV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8" r:id="rId10"/>
    <p:sldLayoutId id="2147483670" r:id="rId11"/>
    <p:sldLayoutId id="2147483667" r:id="rId12"/>
    <p:sldLayoutId id="2147483673" r:id="rId13"/>
    <p:sldLayoutId id="2147483651" r:id="rId14"/>
    <p:sldLayoutId id="2147483672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68159"/>
            <a:ext cx="5739882" cy="2387600"/>
          </a:xfrm>
        </p:spPr>
        <p:txBody>
          <a:bodyPr rtlCol="0"/>
          <a:lstStyle/>
          <a:p>
            <a:pPr rtl="0"/>
            <a:r>
              <a:rPr lang="lv-LV" dirty="0"/>
              <a:t>2D datorspēle</a:t>
            </a:r>
            <a:br>
              <a:rPr lang="lv-LV" dirty="0"/>
            </a:br>
            <a:r>
              <a:rPr lang="lv-LV" dirty="0"/>
              <a:t>«Drumstalotājs»</a:t>
            </a:r>
          </a:p>
        </p:txBody>
      </p:sp>
      <p:sp>
        <p:nvSpPr>
          <p:cNvPr id="3" name="Apakšvirsraksts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17985"/>
            <a:ext cx="5739882" cy="2303253"/>
          </a:xfrm>
        </p:spPr>
        <p:txBody>
          <a:bodyPr rtlCol="0">
            <a:normAutofit/>
          </a:bodyPr>
          <a:lstStyle/>
          <a:p>
            <a:pPr rtl="0"/>
            <a:r>
              <a:rPr lang="lv-LV" dirty="0"/>
              <a:t>Darba autors: Leons Pīgoznis, 4PT</a:t>
            </a:r>
          </a:p>
          <a:p>
            <a:pPr rtl="0"/>
            <a:r>
              <a:rPr lang="lv-LV" dirty="0"/>
              <a:t>Darba vadītājs: Kristaps </a:t>
            </a:r>
            <a:r>
              <a:rPr lang="lv-LV" dirty="0" err="1"/>
              <a:t>Rāvalds</a:t>
            </a:r>
            <a:endParaRPr lang="lv-LV" dirty="0"/>
          </a:p>
          <a:p>
            <a:pPr rtl="0"/>
            <a:endParaRPr lang="lv-LV" dirty="0"/>
          </a:p>
          <a:p>
            <a:pPr rtl="0"/>
            <a:endParaRPr lang="lv-LV" dirty="0"/>
          </a:p>
          <a:p>
            <a:r>
              <a:rPr lang="lv-LV" dirty="0"/>
              <a:t>2026. gada 17. jūnijs 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4034DE9C-EA9C-1DA3-933F-562C49372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195" y="3717985"/>
            <a:ext cx="2785873" cy="2785873"/>
          </a:xfrm>
          <a:prstGeom prst="rect">
            <a:avLst/>
          </a:prstGeom>
        </p:spPr>
      </p:pic>
      <p:pic>
        <p:nvPicPr>
          <p:cNvPr id="9" name="Attēls 8">
            <a:extLst>
              <a:ext uri="{FF2B5EF4-FFF2-40B4-BE49-F238E27FC236}">
                <a16:creationId xmlns:a16="http://schemas.microsoft.com/office/drawing/2014/main" id="{FAF11D17-8E59-0F4E-3573-B7437C0E2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199" y="-1"/>
            <a:ext cx="3573801" cy="350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5312-2023-6645-4749-0DFEE81EC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BAFDE6E-E812-A7DF-7143-C691508EB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Ievads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579F1E7A-6F3A-4F93-08FA-007580F9101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Liels klāsts projektu, simulāciju un spēļu;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Tās saista militārās prasmes vai tās daļas;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Būtiska daļa šiem projektiem: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Nepieciešama augstas veiktspējas datorsistēmas;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Lielas izmaksas;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Ierobežojoša licencēšana.</a:t>
            </a:r>
          </a:p>
        </p:txBody>
      </p:sp>
    </p:spTree>
    <p:extLst>
      <p:ext uri="{BB962C8B-B14F-4D97-AF65-F5344CB8AC3E}">
        <p14:creationId xmlns:p14="http://schemas.microsoft.com/office/powerpoint/2010/main" val="423768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50554FD-FA69-CCB3-A56B-C51FA0D6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6" y="365125"/>
            <a:ext cx="4442423" cy="2621139"/>
          </a:xfrm>
        </p:spPr>
        <p:txBody>
          <a:bodyPr>
            <a:normAutofit/>
          </a:bodyPr>
          <a:lstStyle/>
          <a:p>
            <a:r>
              <a:rPr lang="lv-LV" sz="3200" dirty="0"/>
              <a:t>«</a:t>
            </a:r>
            <a:r>
              <a:rPr lang="lv-LV" sz="3200" dirty="0" err="1"/>
              <a:t>Design</a:t>
            </a:r>
            <a:r>
              <a:rPr lang="lv-LV" sz="3200" dirty="0"/>
              <a:t> </a:t>
            </a:r>
            <a:r>
              <a:rPr lang="lv-LV" sz="3200" dirty="0" err="1"/>
              <a:t>Bureau</a:t>
            </a:r>
            <a:r>
              <a:rPr lang="lv-LV" sz="3200" dirty="0"/>
              <a:t> </a:t>
            </a:r>
            <a:r>
              <a:rPr lang="lv-LV" sz="3200" dirty="0" err="1"/>
              <a:t>Logika</a:t>
            </a:r>
            <a:r>
              <a:rPr lang="lv-LV" sz="3200" dirty="0"/>
              <a:t>»</a:t>
            </a:r>
            <a:br>
              <a:rPr lang="lv-LV" sz="3200" dirty="0"/>
            </a:br>
            <a:r>
              <a:rPr lang="lv-LV" sz="3200" dirty="0"/>
              <a:t>Mīnmetēja </a:t>
            </a:r>
            <a:r>
              <a:rPr lang="lv-LV" sz="3200" dirty="0" err="1"/>
              <a:t>simulators</a:t>
            </a:r>
            <a:endParaRPr lang="lv-LV" sz="3200" dirty="0"/>
          </a:p>
        </p:txBody>
      </p:sp>
      <p:sp>
        <p:nvSpPr>
          <p:cNvPr id="3" name="Teksta vietturis 15">
            <a:extLst>
              <a:ext uri="{FF2B5EF4-FFF2-40B4-BE49-F238E27FC236}">
                <a16:creationId xmlns:a16="http://schemas.microsoft.com/office/drawing/2014/main" id="{EFE1CCEA-913B-EF3F-3B39-89836E9BF7BE}"/>
              </a:ext>
            </a:extLst>
          </p:cNvPr>
          <p:cNvSpPr txBox="1">
            <a:spLocks/>
          </p:cNvSpPr>
          <p:nvPr/>
        </p:nvSpPr>
        <p:spPr>
          <a:xfrm>
            <a:off x="276226" y="3871737"/>
            <a:ext cx="4278521" cy="17785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Daudz iestatāmo mainīgo;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Iekļauta apmācības iekārta;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Licencēšana tikai valsts iestādēm.</a:t>
            </a:r>
          </a:p>
        </p:txBody>
      </p:sp>
      <p:pic>
        <p:nvPicPr>
          <p:cNvPr id="12" name="Attēls 11">
            <a:extLst>
              <a:ext uri="{FF2B5EF4-FFF2-40B4-BE49-F238E27FC236}">
                <a16:creationId xmlns:a16="http://schemas.microsoft.com/office/drawing/2014/main" id="{57416947-3BD4-ADE9-690D-06E7FB1428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618"/>
          <a:stretch>
            <a:fillRect/>
          </a:stretch>
        </p:blipFill>
        <p:spPr>
          <a:xfrm>
            <a:off x="5020902" y="3176670"/>
            <a:ext cx="4408553" cy="3168697"/>
          </a:xfrm>
          <a:prstGeom prst="rect">
            <a:avLst/>
          </a:prstGeom>
        </p:spPr>
      </p:pic>
      <p:sp>
        <p:nvSpPr>
          <p:cNvPr id="13" name="Teksta vietturis 15">
            <a:extLst>
              <a:ext uri="{FF2B5EF4-FFF2-40B4-BE49-F238E27FC236}">
                <a16:creationId xmlns:a16="http://schemas.microsoft.com/office/drawing/2014/main" id="{996D18A3-923E-FCC5-1DBE-CFD60D05EB7E}"/>
              </a:ext>
            </a:extLst>
          </p:cNvPr>
          <p:cNvSpPr txBox="1">
            <a:spLocks/>
          </p:cNvSpPr>
          <p:nvPr/>
        </p:nvSpPr>
        <p:spPr>
          <a:xfrm>
            <a:off x="451449" y="5865962"/>
            <a:ext cx="4103298" cy="6269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i="1" dirty="0"/>
              <a:t>https://logika.ua/simulators/trenazher-dlya-pidgotovky-obslugy-minometiv/</a:t>
            </a:r>
          </a:p>
        </p:txBody>
      </p:sp>
      <p:pic>
        <p:nvPicPr>
          <p:cNvPr id="15" name="Attēls 14">
            <a:extLst>
              <a:ext uri="{FF2B5EF4-FFF2-40B4-BE49-F238E27FC236}">
                <a16:creationId xmlns:a16="http://schemas.microsoft.com/office/drawing/2014/main" id="{4E474D19-0E04-13B9-0BD8-DDB4DDF33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773" y="1526876"/>
            <a:ext cx="2688925" cy="3644570"/>
          </a:xfrm>
          <a:prstGeom prst="rect">
            <a:avLst/>
          </a:prstGeom>
        </p:spPr>
      </p:pic>
      <p:pic>
        <p:nvPicPr>
          <p:cNvPr id="17" name="Attēls 16">
            <a:extLst>
              <a:ext uri="{FF2B5EF4-FFF2-40B4-BE49-F238E27FC236}">
                <a16:creationId xmlns:a16="http://schemas.microsoft.com/office/drawing/2014/main" id="{525BBFE6-B510-4855-407F-BDE8D8368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583" y="241360"/>
            <a:ext cx="4912817" cy="274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2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9C123-5B6F-01E6-9DBD-81C8FB1DD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F3BA32B4-4E4B-48E8-E7A1-817C93CE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Mērķis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FB3E4551-48A0-F750-7EDC-83984F2CDAB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Izstrādāt ikvienam pieejamu projektu;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Datorspēle par artilērijas ierīcēm;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Saistīt militārās prasmes vai tās daļu;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Izpaust šo ideju ar līmeņu kopu, kuros ir iznīcināmi mērķi.</a:t>
            </a:r>
          </a:p>
        </p:txBody>
      </p:sp>
    </p:spTree>
    <p:extLst>
      <p:ext uri="{BB962C8B-B14F-4D97-AF65-F5344CB8AC3E}">
        <p14:creationId xmlns:p14="http://schemas.microsoft.com/office/powerpoint/2010/main" val="11834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BA3C7-64C9-647A-EF47-943B9665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48052BA-E1F8-94BA-97A8-9CD429EA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Vispārīgās prasības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2AE61618-EA4A-FF6C-27AD-1ECFFFC211A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 lnSpcReduction="10000"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3 funkcionālās ainas: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Galvenā izvēlne: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Ierīču anotācijas;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Projekta anotācija;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Iestatījumi;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Pārvirze uz līmeņu atlases ainu.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Līmeņu atlase: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Karte ar līmeņu punktiem;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Līmeņa indikatori (slēgts, pieejams);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Līmeņa informācija;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Pārvirze uz spēles laukuma ainu.</a:t>
            </a:r>
          </a:p>
        </p:txBody>
      </p:sp>
    </p:spTree>
    <p:extLst>
      <p:ext uri="{BB962C8B-B14F-4D97-AF65-F5344CB8AC3E}">
        <p14:creationId xmlns:p14="http://schemas.microsoft.com/office/powerpoint/2010/main" val="796520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A8BFA-0E00-F4BA-34CF-242E2FD9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C2CE4CBE-B0AF-B871-E93E-92071461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Vispārīgās prasības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9DEB53C3-9106-0B90-DF39-17B6B80ECED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3 funkcionālās ainas: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Spēles laukums: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Kartes komponente: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Zemes, objektu un dekorāciju slānis;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Kamera;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Kartes datu ielādēšana un glabāšana.</a:t>
            </a:r>
          </a:p>
          <a:p>
            <a:pPr marL="2057400" lvl="3" indent="-457200"/>
            <a:r>
              <a:rPr lang="lv-LV" sz="2800" dirty="0">
                <a:solidFill>
                  <a:schemeClr val="bg1"/>
                </a:solidFill>
              </a:rPr>
              <a:t>Informācijas vākšana: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Atlikušais laiks;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Iznīcināmie mērķi.</a:t>
            </a:r>
            <a:endParaRPr lang="lv-LV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901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BA1C7-8DE1-11D2-6C36-CB20E050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189D117-81C3-CB32-F4DE-F67D3051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Vispārīgās prasības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7852FD5A-17B1-E6A9-F5B5-9B9A43422BE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3 funkcionālās ainas: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Spēles laukums:</a:t>
            </a:r>
          </a:p>
          <a:p>
            <a:pPr marL="2057400" lvl="3" indent="-457200"/>
            <a:r>
              <a:rPr lang="lv-LV" sz="2600" dirty="0">
                <a:solidFill>
                  <a:schemeClr val="bg1"/>
                </a:solidFill>
              </a:rPr>
              <a:t>Kartes objekti: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Ierīces un tās lādiņi;</a:t>
            </a:r>
          </a:p>
          <a:p>
            <a:pPr marL="2971800" lvl="5" indent="-457200"/>
            <a:r>
              <a:rPr lang="lv-LV" sz="2800" dirty="0">
                <a:solidFill>
                  <a:schemeClr val="bg1"/>
                </a:solidFill>
              </a:rPr>
              <a:t>Regulējams traverss, augstums un šaušanas reizes;</a:t>
            </a:r>
          </a:p>
          <a:p>
            <a:pPr marL="2971800" lvl="5" indent="-457200"/>
            <a:r>
              <a:rPr lang="lv-LV" sz="2800" dirty="0">
                <a:solidFill>
                  <a:schemeClr val="bg1"/>
                </a:solidFill>
              </a:rPr>
              <a:t>Ierīču izšaušana;</a:t>
            </a:r>
          </a:p>
          <a:p>
            <a:pPr marL="2971800" lvl="5" indent="-457200"/>
            <a:r>
              <a:rPr lang="lv-LV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Lādiņa ballistika un detonācija daļēji ataino fizikas likumus.</a:t>
            </a:r>
          </a:p>
          <a:p>
            <a:pPr marL="2514600" lvl="4" indent="-457200"/>
            <a:r>
              <a:rPr lang="lv-LV" sz="2800" dirty="0">
                <a:solidFill>
                  <a:schemeClr val="bg1"/>
                </a:solidFill>
              </a:rPr>
              <a:t>Mūri;</a:t>
            </a:r>
          </a:p>
        </p:txBody>
      </p:sp>
    </p:spTree>
    <p:extLst>
      <p:ext uri="{BB962C8B-B14F-4D97-AF65-F5344CB8AC3E}">
        <p14:creationId xmlns:p14="http://schemas.microsoft.com/office/powerpoint/2010/main" val="2453731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BA983-0DF5-BB42-9353-EF1F33A4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5D1691C1-DCD7-0E2D-475F-A4FC7CB9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Vispārīgās prasības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FED4EC0E-1824-216C-D519-72490E661C9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Regulējami iestatījumi: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Skaļum</a:t>
            </a:r>
            <a:r>
              <a:rPr lang="lv-LV" sz="2800" dirty="0">
                <a:solidFill>
                  <a:schemeClr val="bg1"/>
                </a:solidFill>
              </a:rPr>
              <a:t>u iestatījumi;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Logu izmēra iestatījumi.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Progresa saglabāšana;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2D vide;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Viegli pārskatāma lietotāja </a:t>
            </a:r>
            <a:r>
              <a:rPr lang="lv-LV" sz="2800" dirty="0" err="1">
                <a:solidFill>
                  <a:schemeClr val="bg1"/>
                </a:solidFill>
              </a:rPr>
              <a:t>saskarne</a:t>
            </a:r>
            <a:r>
              <a:rPr lang="lv-LV" sz="2800" dirty="0">
                <a:solidFill>
                  <a:schemeClr val="bg1"/>
                </a:solidFill>
              </a:rPr>
              <a:t>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Palaižama zemas veiktspējas datorsistēmās.</a:t>
            </a:r>
          </a:p>
        </p:txBody>
      </p:sp>
    </p:spTree>
    <p:extLst>
      <p:ext uri="{BB962C8B-B14F-4D97-AF65-F5344CB8AC3E}">
        <p14:creationId xmlns:p14="http://schemas.microsoft.com/office/powerpoint/2010/main" val="4232601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94B1-B60A-FE50-5142-79E72D68C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3785D54E-E91A-80FE-932D-B391C7E56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7" y="365125"/>
            <a:ext cx="4157750" cy="2621139"/>
          </a:xfrm>
        </p:spPr>
        <p:txBody>
          <a:bodyPr/>
          <a:lstStyle/>
          <a:p>
            <a:r>
              <a:rPr lang="lv-LV" dirty="0"/>
              <a:t>Lietotāja rakstura iezīmes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AC72CE06-F053-0BD5-3869-A95B66D9BEC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Izklaide: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Vienkāršas spēles noteikumi;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Fantastisks sižets.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Izglītība: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Mehānikas fizika;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Ballistika;</a:t>
            </a:r>
          </a:p>
          <a:p>
            <a:pPr marL="1600200" lvl="2" indent="-457200"/>
            <a:r>
              <a:rPr lang="lv-LV" sz="2800" dirty="0">
                <a:solidFill>
                  <a:schemeClr val="bg1"/>
                </a:solidFill>
              </a:rPr>
              <a:t>(Vienkāršotas) topogrāfija.</a:t>
            </a:r>
          </a:p>
        </p:txBody>
      </p:sp>
    </p:spTree>
    <p:extLst>
      <p:ext uri="{BB962C8B-B14F-4D97-AF65-F5344CB8AC3E}">
        <p14:creationId xmlns:p14="http://schemas.microsoft.com/office/powerpoint/2010/main" val="412239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D9D7-9B35-5E6F-6BAF-C164B3E2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8DD900D-FFE9-FCEB-E6D4-CF95AC7EF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Izstrādes soļi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2A9B32B0-C563-7297-6443-7DF8DE24B26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Projekta tēma pētīšana;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Datu un tās klašu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Darbības gaita un algoritma modelēšana;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Kodu rakstīšana ieskatoties no modeļiem;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Tās kodu testēšana;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Vizuālās grafikas un skaņas efektu izveide.</a:t>
            </a:r>
          </a:p>
        </p:txBody>
      </p:sp>
    </p:spTree>
    <p:extLst>
      <p:ext uri="{BB962C8B-B14F-4D97-AF65-F5344CB8AC3E}">
        <p14:creationId xmlns:p14="http://schemas.microsoft.com/office/powerpoint/2010/main" val="1484961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4D81-3A2A-DE00-D768-23A74899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11A9D0B-2373-1796-3CB1-ACC6FCBD9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Izstrādes rīki un valodas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3DD05C5F-A457-E532-14D1-05D5758E4AE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C#: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Sistēmas programmēšanas valoda;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Objektorientētā;</a:t>
            </a:r>
          </a:p>
          <a:p>
            <a:pPr marL="1143000" lvl="1" indent="-457200"/>
            <a:r>
              <a:rPr lang="lv-LV" sz="2800" i="1" dirty="0" err="1">
                <a:solidFill>
                  <a:schemeClr val="bg1"/>
                </a:solidFill>
              </a:rPr>
              <a:t>Godot</a:t>
            </a:r>
            <a:r>
              <a:rPr lang="lv-LV" sz="2800" i="1" dirty="0">
                <a:solidFill>
                  <a:schemeClr val="bg1"/>
                </a:solidFill>
              </a:rPr>
              <a:t> </a:t>
            </a:r>
            <a:r>
              <a:rPr lang="lv-LV" sz="2800" dirty="0">
                <a:solidFill>
                  <a:schemeClr val="bg1"/>
                </a:solidFill>
              </a:rPr>
              <a:t>dziņa atbalstītā valoda.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i="1" dirty="0" err="1"/>
              <a:t>Godot</a:t>
            </a:r>
            <a:r>
              <a:rPr lang="lv-LV" sz="2800" dirty="0"/>
              <a:t>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Piemērota neliela apjoma projektiem;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Optimizēta 2D videi;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Ātri apgūstama.</a:t>
            </a:r>
          </a:p>
          <a:p>
            <a:pPr marL="1143000" lvl="1" indent="-457200"/>
            <a:endParaRPr lang="lv-LV" sz="2800" dirty="0">
              <a:solidFill>
                <a:schemeClr val="bg1"/>
              </a:solidFill>
            </a:endParaRP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2AB32834-7DBC-8EDA-31A8-328422B88567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84672" y="3650591"/>
            <a:ext cx="3072441" cy="3072441"/>
          </a:xfrm>
          <a:prstGeom prst="rect">
            <a:avLst/>
          </a:prstGeom>
        </p:spPr>
      </p:pic>
      <p:pic>
        <p:nvPicPr>
          <p:cNvPr id="8" name="Attēls 7">
            <a:extLst>
              <a:ext uri="{FF2B5EF4-FFF2-40B4-BE49-F238E27FC236}">
                <a16:creationId xmlns:a16="http://schemas.microsoft.com/office/drawing/2014/main" id="{E86A86FA-2BBD-26AB-A1FC-1E2B5D123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099" y="4207714"/>
            <a:ext cx="1897811" cy="18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53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1FC24-D8C6-6E98-3C2F-66C9286DA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CCD569E2-BA91-4A56-13AD-36E3FBD2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32" y="365125"/>
            <a:ext cx="4244196" cy="2621139"/>
          </a:xfrm>
        </p:spPr>
        <p:txBody>
          <a:bodyPr/>
          <a:lstStyle/>
          <a:p>
            <a:r>
              <a:rPr lang="lv-LV" dirty="0"/>
              <a:t>Versiju kontrole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8950E04D-0906-03BB-79C2-CF4845C4B0A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Izmantots </a:t>
            </a:r>
            <a:r>
              <a:rPr lang="lv-LV" sz="2800" i="1" dirty="0" err="1"/>
              <a:t>git</a:t>
            </a:r>
            <a:r>
              <a:rPr lang="lv-LV" sz="2800" dirty="0"/>
              <a:t> versiju kontroles rīks;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 err="1"/>
              <a:t>Repozitorijas</a:t>
            </a:r>
            <a:r>
              <a:rPr lang="lv-LV" sz="2800" dirty="0"/>
              <a:t> mitināšanai izmantos </a:t>
            </a:r>
            <a:r>
              <a:rPr lang="lv-LV" sz="2800" i="1" dirty="0" err="1"/>
              <a:t>GitHub</a:t>
            </a:r>
            <a:r>
              <a:rPr lang="lv-LV" sz="2800" dirty="0"/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Lielām izmaiņām, piemēram, </a:t>
            </a:r>
            <a:r>
              <a:rPr lang="lv-LV" sz="2800" dirty="0" err="1"/>
              <a:t>galvenām</a:t>
            </a:r>
            <a:r>
              <a:rPr lang="lv-LV" sz="2800" dirty="0"/>
              <a:t> funkcionalitātēm, tiks veikti sazarojumi un saplūšana;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Ne tikai projekta </a:t>
            </a:r>
            <a:r>
              <a:rPr lang="lv-LV" sz="2800" dirty="0" err="1"/>
              <a:t>avotkods</a:t>
            </a:r>
            <a:r>
              <a:rPr lang="lv-LV" sz="2800" dirty="0"/>
              <a:t>, arī dokumentācija tiks glabāta repozitorijā.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5E787DED-74DD-06F3-6C0C-DCE05EA7B9B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286773" y="4123426"/>
            <a:ext cx="2122098" cy="212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26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60429-F4CB-B5A5-9D3B-33D129634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591C2858-0435-6EC8-C5FB-05D21543A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Iespējamās alternatīvas – Valoda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9BC3671D-F405-E095-6ECA-E48BF390BDA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 err="1"/>
              <a:t>GDScript</a:t>
            </a:r>
            <a:r>
              <a:rPr lang="lv-LV" sz="2800" dirty="0"/>
              <a:t>:</a:t>
            </a:r>
          </a:p>
          <a:p>
            <a:pPr marL="1143000" lvl="1" indent="-457200"/>
            <a:r>
              <a:rPr lang="lv-LV" sz="2800" i="1" dirty="0" err="1">
                <a:solidFill>
                  <a:schemeClr val="bg1"/>
                </a:solidFill>
              </a:rPr>
              <a:t>Godot</a:t>
            </a:r>
            <a:r>
              <a:rPr lang="lv-LV" sz="2800" i="1" dirty="0">
                <a:solidFill>
                  <a:schemeClr val="bg1"/>
                </a:solidFill>
              </a:rPr>
              <a:t> </a:t>
            </a:r>
            <a:r>
              <a:rPr lang="lv-LV" sz="2800" dirty="0">
                <a:solidFill>
                  <a:schemeClr val="bg1"/>
                </a:solidFill>
              </a:rPr>
              <a:t>dziņa valoda;</a:t>
            </a:r>
          </a:p>
          <a:p>
            <a:pPr marL="1143000" lvl="1" indent="-457200"/>
            <a:r>
              <a:rPr lang="lv-LV" sz="2800" dirty="0" err="1">
                <a:solidFill>
                  <a:schemeClr val="bg1"/>
                </a:solidFill>
              </a:rPr>
              <a:t>Intepretētā</a:t>
            </a:r>
            <a:r>
              <a:rPr lang="lv-LV" sz="2800" dirty="0">
                <a:solidFill>
                  <a:schemeClr val="bg1"/>
                </a:solidFill>
              </a:rPr>
              <a:t>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Nav visas OOP funkcionalitātes.</a:t>
            </a:r>
            <a:endParaRPr lang="lv-LV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C++: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Arī </a:t>
            </a:r>
            <a:r>
              <a:rPr lang="lv-LV" sz="2800" i="1" dirty="0" err="1">
                <a:solidFill>
                  <a:schemeClr val="bg1"/>
                </a:solidFill>
              </a:rPr>
              <a:t>Godot</a:t>
            </a:r>
            <a:r>
              <a:rPr lang="lv-LV" sz="2800" i="1" dirty="0">
                <a:solidFill>
                  <a:schemeClr val="bg1"/>
                </a:solidFill>
              </a:rPr>
              <a:t> </a:t>
            </a:r>
            <a:r>
              <a:rPr lang="lv-LV" sz="2800" dirty="0">
                <a:solidFill>
                  <a:schemeClr val="bg1"/>
                </a:solidFill>
              </a:rPr>
              <a:t>atbalstīta valoda;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Objektorientētā;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Kompilētā;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Daudz un sarežģītas funkcionalitātes.</a:t>
            </a:r>
          </a:p>
        </p:txBody>
      </p:sp>
      <p:pic>
        <p:nvPicPr>
          <p:cNvPr id="6" name="Attēls 5">
            <a:extLst>
              <a:ext uri="{FF2B5EF4-FFF2-40B4-BE49-F238E27FC236}">
                <a16:creationId xmlns:a16="http://schemas.microsoft.com/office/drawing/2014/main" id="{EC3CD0F8-B46A-30EF-C6E1-D7C37AD16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85" y="4226944"/>
            <a:ext cx="1740959" cy="1958196"/>
          </a:xfrm>
          <a:prstGeom prst="rect">
            <a:avLst/>
          </a:prstGeom>
        </p:spPr>
      </p:pic>
      <p:pic>
        <p:nvPicPr>
          <p:cNvPr id="7" name="Attēls 6">
            <a:extLst>
              <a:ext uri="{FF2B5EF4-FFF2-40B4-BE49-F238E27FC236}">
                <a16:creationId xmlns:a16="http://schemas.microsoft.com/office/drawing/2014/main" id="{568A92CD-E267-BF43-CC16-DF50D31F3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2387" y="4226944"/>
            <a:ext cx="1897811" cy="18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50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15C26-7430-9D26-0A88-FF80433B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5AA58E02-7FA8-8DAF-3652-CC3050FA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Iespējamās alternatīvas – Dzinis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6B387112-8973-EA2C-5F0C-312B9287E9C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i="1" dirty="0" err="1"/>
              <a:t>Unreal</a:t>
            </a:r>
            <a:r>
              <a:rPr lang="lv-LV" sz="2800" i="1" dirty="0"/>
              <a:t> </a:t>
            </a:r>
            <a:r>
              <a:rPr lang="lv-LV" sz="2800" i="1" dirty="0" err="1"/>
              <a:t>Engine</a:t>
            </a:r>
            <a:r>
              <a:rPr lang="lv-LV" sz="2800" i="1" dirty="0"/>
              <a:t>, </a:t>
            </a:r>
            <a:r>
              <a:rPr lang="lv-LV" sz="2800" i="1" dirty="0" err="1"/>
              <a:t>CryEngine</a:t>
            </a:r>
            <a:r>
              <a:rPr lang="lv-LV" sz="2800" dirty="0"/>
              <a:t>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Pielāgots 3D videi;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Nepieciešama augstas veiktspējas datorsistēma;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Apgūšana sarežģītāka.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i="1" dirty="0" err="1"/>
              <a:t>Unity</a:t>
            </a:r>
            <a:r>
              <a:rPr lang="lv-LV" sz="2800" dirty="0"/>
              <a:t>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Izmantojama salīdzinoši zemākām veiktspējas datorsistēmām;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Pielāgojama 2D videi;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Vieglāk apgūstama;</a:t>
            </a:r>
            <a:endParaRPr lang="lv-LV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Neviens no dziņiem nav brīvprogrammatūras licencēšana.</a:t>
            </a:r>
            <a:endParaRPr lang="lv-LV" sz="2800" dirty="0">
              <a:solidFill>
                <a:schemeClr val="bg1"/>
              </a:solidFill>
            </a:endParaRP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E715726C-F55D-B310-3D0A-3BCB34D6042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rcRect t="16297" r="66875" b="17233"/>
          <a:stretch>
            <a:fillRect/>
          </a:stretch>
        </p:blipFill>
        <p:spPr>
          <a:xfrm>
            <a:off x="276226" y="4056678"/>
            <a:ext cx="1815142" cy="2048847"/>
          </a:xfrm>
          <a:prstGeom prst="rect">
            <a:avLst/>
          </a:prstGeom>
        </p:spPr>
      </p:pic>
      <p:pic>
        <p:nvPicPr>
          <p:cNvPr id="6" name="Attēls 5">
            <a:extLst>
              <a:ext uri="{FF2B5EF4-FFF2-40B4-BE49-F238E27FC236}">
                <a16:creationId xmlns:a16="http://schemas.microsoft.com/office/drawing/2014/main" id="{DC5583AF-9261-4D91-D040-FAB770A1CE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074" t="14507" r="33270" b="36691"/>
          <a:stretch>
            <a:fillRect/>
          </a:stretch>
        </p:blipFill>
        <p:spPr>
          <a:xfrm>
            <a:off x="2438400" y="3948370"/>
            <a:ext cx="2135422" cy="206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805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58229-A59E-F697-08B2-161E903E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841F51A-3FFD-6598-59DE-14BE99A6B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lv-LV" dirty="0"/>
              <a:t>Modeļi – Sistēmas pārvaldnieks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F8501683-182E-8C21-CAB3-80A92CB2E71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Struktūra atrodas visā projekta darbības laikā;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Glabā globālos mainīgos un iestatījumus;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Glabā globālās metodes un globālo funkcionalitāšu </a:t>
            </a:r>
            <a:r>
              <a:rPr lang="lv-LV" sz="2800" dirty="0" err="1"/>
              <a:t>logrīkus</a:t>
            </a:r>
            <a:r>
              <a:rPr lang="lv-LV" sz="2800" dirty="0"/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Pārvalda ainas, mūzikas atskaņošanu un datu glabāšanu.</a:t>
            </a:r>
          </a:p>
        </p:txBody>
      </p:sp>
    </p:spTree>
    <p:extLst>
      <p:ext uri="{BB962C8B-B14F-4D97-AF65-F5344CB8AC3E}">
        <p14:creationId xmlns:p14="http://schemas.microsoft.com/office/powerpoint/2010/main" val="1019482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3631-8FB1-9BA2-AC94-20768C4F8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F2535D00-3845-4361-80A0-C5677F9F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" y="365125"/>
            <a:ext cx="3190337" cy="2621139"/>
          </a:xfrm>
        </p:spPr>
        <p:txBody>
          <a:bodyPr/>
          <a:lstStyle/>
          <a:p>
            <a:r>
              <a:rPr lang="lv-LV" dirty="0"/>
              <a:t>Modeļi – Sistēmas pārvaldnieks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E3726118-7C35-F446-F03E-D7A6CD506605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900" dirty="0"/>
              <a:t>Komponenšu modelis;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900" dirty="0"/>
              <a:t>Datu un iestatījumu </a:t>
            </a:r>
            <a:r>
              <a:rPr lang="lv-LV" sz="1900" dirty="0" err="1"/>
              <a:t>glabāšāna</a:t>
            </a:r>
            <a:r>
              <a:rPr lang="lv-LV" sz="1900" dirty="0"/>
              <a:t>, un uznirstošie logi un izejas dialogi ir saistīti (vizuāli).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900" i="1" dirty="0" err="1"/>
              <a:t>Godot</a:t>
            </a:r>
            <a:r>
              <a:rPr lang="lv-LV" sz="1900" i="1" dirty="0"/>
              <a:t> </a:t>
            </a:r>
            <a:r>
              <a:rPr lang="lv-LV" sz="1900" dirty="0"/>
              <a:t>projekta mezglu sakne tiks bāzēta no tās.</a:t>
            </a:r>
            <a:endParaRPr lang="lv-LV" sz="1900" i="1" dirty="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9FCEDB27-9CBD-1CB9-BCD7-8DEC06F0D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80695" y="1848222"/>
            <a:ext cx="7404795" cy="29172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0292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2346-E456-0311-EB17-5A560EDEE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9A567AE-93A8-1EE8-618C-1A4E32C3F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" y="365125"/>
            <a:ext cx="3190337" cy="2621139"/>
          </a:xfrm>
        </p:spPr>
        <p:txBody>
          <a:bodyPr/>
          <a:lstStyle/>
          <a:p>
            <a:r>
              <a:rPr lang="lv-LV" dirty="0"/>
              <a:t>Modeļi – Sistēmas pārvaldnieks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5895D74C-B087-42B0-5102-9FE439B6921F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Klašu modelis;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i="1" dirty="0" err="1"/>
              <a:t>Main</a:t>
            </a:r>
            <a:r>
              <a:rPr lang="lv-LV" sz="2800" dirty="0"/>
              <a:t> klase ir sakne;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i="1" dirty="0" err="1"/>
              <a:t>Main</a:t>
            </a:r>
            <a:r>
              <a:rPr lang="lv-LV" sz="2800" dirty="0"/>
              <a:t> klasei ir pārējo klašu saites.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E090F-371B-4B36-8EB4-A281FA1AE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721" y="471487"/>
            <a:ext cx="622554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97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4BED6-2B4F-7709-3E41-50492B62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9B38919-F405-7667-6991-CE3458FC2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74" y="365125"/>
            <a:ext cx="4002656" cy="2621139"/>
          </a:xfrm>
        </p:spPr>
        <p:txBody>
          <a:bodyPr>
            <a:normAutofit/>
          </a:bodyPr>
          <a:lstStyle/>
          <a:p>
            <a:r>
              <a:rPr lang="lv-LV" dirty="0"/>
              <a:t>Modeļi – Ainas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E04F7BCD-6ED8-6589-4569-655978CC3F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Sākuma aina </a:t>
            </a:r>
            <a:r>
              <a:rPr lang="lv-LV" sz="2800" i="1" dirty="0"/>
              <a:t>(Start):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Iestatījumi;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Anotācija;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Pieejamās ierīces.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Līmeņu atlases aina </a:t>
            </a:r>
            <a:r>
              <a:rPr lang="lv-LV" sz="2800" i="1" dirty="0"/>
              <a:t>(</a:t>
            </a:r>
            <a:r>
              <a:rPr lang="lv-LV" sz="2800" i="1" dirty="0" err="1"/>
              <a:t>Level</a:t>
            </a:r>
            <a:r>
              <a:rPr lang="lv-LV" sz="2800" i="1" dirty="0"/>
              <a:t> </a:t>
            </a:r>
            <a:r>
              <a:rPr lang="lv-LV" sz="2800" i="1" dirty="0" err="1"/>
              <a:t>selection</a:t>
            </a:r>
            <a:r>
              <a:rPr lang="lv-LV" sz="2800" i="1" dirty="0"/>
              <a:t>)</a:t>
            </a:r>
            <a:r>
              <a:rPr lang="lv-LV" sz="2800" dirty="0"/>
              <a:t>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Līmeņa informācija.</a:t>
            </a:r>
            <a:endParaRPr lang="lv-LV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Spēles laukuma aina </a:t>
            </a:r>
            <a:r>
              <a:rPr lang="lv-LV" sz="2800" i="1" dirty="0"/>
              <a:t>(</a:t>
            </a:r>
            <a:r>
              <a:rPr lang="lv-LV" sz="2800" i="1" dirty="0" err="1"/>
              <a:t>Battle</a:t>
            </a:r>
            <a:r>
              <a:rPr lang="lv-LV" sz="2800" i="1" dirty="0"/>
              <a:t>)</a:t>
            </a:r>
            <a:r>
              <a:rPr lang="lv-LV" sz="2800" dirty="0"/>
              <a:t>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Kartes laukums;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Mērķu iznīcināšana.</a:t>
            </a:r>
            <a:endParaRPr lang="lv-LV" sz="2800" dirty="0"/>
          </a:p>
        </p:txBody>
      </p:sp>
    </p:spTree>
    <p:extLst>
      <p:ext uri="{BB962C8B-B14F-4D97-AF65-F5344CB8AC3E}">
        <p14:creationId xmlns:p14="http://schemas.microsoft.com/office/powerpoint/2010/main" val="3492569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AB20-BC40-2E87-F045-B4780385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252864B-E05E-616C-506D-6472387C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" y="365125"/>
            <a:ext cx="3362866" cy="2621139"/>
          </a:xfrm>
        </p:spPr>
        <p:txBody>
          <a:bodyPr/>
          <a:lstStyle/>
          <a:p>
            <a:r>
              <a:rPr lang="lv-LV" dirty="0"/>
              <a:t>Modeļi – Ainas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63567146-7DB7-3137-2289-46EA77E7A2E2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Komponenšu modelis;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Līmeņu atlase un spēles laukums satur </a:t>
            </a:r>
            <a:r>
              <a:rPr lang="lv-LV" sz="2400" dirty="0" err="1"/>
              <a:t>virsjoslu</a:t>
            </a:r>
            <a:r>
              <a:rPr lang="lv-LV" sz="2400" dirty="0"/>
              <a:t> un karti;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6BDDE4EB-6EF3-138A-8F67-AEB17CA40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455" y="2006726"/>
            <a:ext cx="7759143" cy="284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83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A6750-F4C5-8D73-34E7-327587E5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199C088-13AF-BF58-A8EB-3D6296E2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" y="365125"/>
            <a:ext cx="3362866" cy="2621139"/>
          </a:xfrm>
        </p:spPr>
        <p:txBody>
          <a:bodyPr/>
          <a:lstStyle/>
          <a:p>
            <a:r>
              <a:rPr lang="lv-LV" dirty="0"/>
              <a:t>Modeļi – Ainas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EFE0893A-FE4E-589D-5114-5F5B889CE9DF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Klašu modelis;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Neņemot vērā </a:t>
            </a:r>
            <a:r>
              <a:rPr lang="lv-LV" sz="2400" dirty="0" err="1"/>
              <a:t>virsjoslas</a:t>
            </a:r>
            <a:r>
              <a:rPr lang="lv-LV" sz="2400" dirty="0"/>
              <a:t> un kartes komponenti;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Spēles laukuma ainai ir vairākas atkarīgas klases.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1E6714D5-9C31-4808-923E-BDC0943B7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249" y="666007"/>
            <a:ext cx="7458150" cy="533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64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6E354-6794-4BC3-26E3-D8BBF5D0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DD1850D-664F-7787-EA9A-14159B7C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" y="365125"/>
            <a:ext cx="3362866" cy="2621139"/>
          </a:xfrm>
        </p:spPr>
        <p:txBody>
          <a:bodyPr/>
          <a:lstStyle/>
          <a:p>
            <a:r>
              <a:rPr lang="lv-LV" dirty="0"/>
              <a:t>Modeļi – Ainas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2B650326-6329-864E-03E7-99F6F7A72B0B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Ainu gaitas modelis;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Līmenis tiek atvērts, ja pēc nosacījumiem līmenis ir atslēgts.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D5A62B9F-5A62-29E0-D66A-15A702CF0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509" y="2659452"/>
            <a:ext cx="8004954" cy="153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63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A3876-4A94-42A0-6677-5E9430C2D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6E0A42D-7CB6-7624-F0CA-58D7DE62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574" y="365125"/>
            <a:ext cx="4002656" cy="2621139"/>
          </a:xfrm>
        </p:spPr>
        <p:txBody>
          <a:bodyPr>
            <a:normAutofit/>
          </a:bodyPr>
          <a:lstStyle/>
          <a:p>
            <a:r>
              <a:rPr lang="lv-LV" dirty="0"/>
              <a:t>Modeļi – Karte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C513F224-C670-96F5-0E69-F7821E18CAB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Visbūtiskākā komponente:</a:t>
            </a:r>
          </a:p>
          <a:p>
            <a:pPr marL="1143000" lvl="1" indent="-457200"/>
            <a:r>
              <a:rPr lang="lv-LV" dirty="0">
                <a:solidFill>
                  <a:schemeClr val="bg1"/>
                </a:solidFill>
              </a:rPr>
              <a:t>Atrodas datorspēles būtiskākā loģika;</a:t>
            </a:r>
          </a:p>
          <a:p>
            <a:pPr marL="1143000" lvl="1" indent="-457200"/>
            <a:r>
              <a:rPr lang="lv-LV" dirty="0">
                <a:solidFill>
                  <a:schemeClr val="bg1"/>
                </a:solidFill>
              </a:rPr>
              <a:t>Iekļauj zemi, objektus un lādiņu laukumu.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Slāņi:</a:t>
            </a:r>
          </a:p>
          <a:p>
            <a:pPr marL="1143000" lvl="1" indent="-457200"/>
            <a:r>
              <a:rPr lang="lv-LV" dirty="0">
                <a:solidFill>
                  <a:schemeClr val="bg1"/>
                </a:solidFill>
              </a:rPr>
              <a:t>Zemes slānis </a:t>
            </a:r>
            <a:r>
              <a:rPr lang="lv-LV" i="1" dirty="0">
                <a:solidFill>
                  <a:schemeClr val="bg1"/>
                </a:solidFill>
              </a:rPr>
              <a:t>(</a:t>
            </a:r>
            <a:r>
              <a:rPr lang="lv-LV" i="1" dirty="0" err="1">
                <a:solidFill>
                  <a:schemeClr val="bg1"/>
                </a:solidFill>
              </a:rPr>
              <a:t>GroundLayer</a:t>
            </a:r>
            <a:r>
              <a:rPr lang="lv-LV" i="1" dirty="0">
                <a:solidFill>
                  <a:schemeClr val="bg1"/>
                </a:solidFill>
              </a:rPr>
              <a:t>);</a:t>
            </a:r>
          </a:p>
          <a:p>
            <a:pPr marL="1143000" lvl="1" indent="-457200"/>
            <a:r>
              <a:rPr lang="lv-LV" dirty="0">
                <a:solidFill>
                  <a:schemeClr val="bg1"/>
                </a:solidFill>
              </a:rPr>
              <a:t>Objektu slānis </a:t>
            </a:r>
            <a:r>
              <a:rPr lang="lv-LV" i="1" dirty="0">
                <a:solidFill>
                  <a:schemeClr val="bg1"/>
                </a:solidFill>
              </a:rPr>
              <a:t>(</a:t>
            </a:r>
            <a:r>
              <a:rPr lang="lv-LV" i="1" dirty="0" err="1">
                <a:solidFill>
                  <a:schemeClr val="bg1"/>
                </a:solidFill>
              </a:rPr>
              <a:t>EntityLayer</a:t>
            </a:r>
            <a:r>
              <a:rPr lang="lv-LV" i="1" dirty="0">
                <a:solidFill>
                  <a:schemeClr val="bg1"/>
                </a:solidFill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Atlasītājs:</a:t>
            </a:r>
          </a:p>
          <a:p>
            <a:pPr marL="1143000" lvl="1" indent="-457200"/>
            <a:r>
              <a:rPr lang="lv-LV" dirty="0">
                <a:solidFill>
                  <a:schemeClr val="bg1"/>
                </a:solidFill>
              </a:rPr>
              <a:t>Vizuālais indikators objektu atlasei</a:t>
            </a:r>
            <a:r>
              <a:rPr lang="lv-LV" i="1" dirty="0">
                <a:solidFill>
                  <a:schemeClr val="bg1"/>
                </a:solidFill>
              </a:rPr>
              <a:t>.</a:t>
            </a:r>
            <a:endParaRPr lang="lv-LV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Kamera:</a:t>
            </a:r>
          </a:p>
          <a:p>
            <a:pPr marL="1143000" lvl="1" indent="-457200"/>
            <a:r>
              <a:rPr lang="lv-LV" dirty="0">
                <a:solidFill>
                  <a:schemeClr val="bg1"/>
                </a:solidFill>
              </a:rPr>
              <a:t>Rāda kartes fragmentu;</a:t>
            </a:r>
          </a:p>
          <a:p>
            <a:pPr marL="1143000" lvl="1" indent="-457200"/>
            <a:r>
              <a:rPr lang="lv-LV" dirty="0">
                <a:solidFill>
                  <a:schemeClr val="bg1"/>
                </a:solidFill>
              </a:rPr>
              <a:t>Velkams pa visu karti skata vietas maiņai.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Lādiņu laukums:</a:t>
            </a:r>
          </a:p>
          <a:p>
            <a:pPr marL="1143000" lvl="1" indent="-457200"/>
            <a:r>
              <a:rPr lang="lv-LV" dirty="0">
                <a:solidFill>
                  <a:schemeClr val="bg1"/>
                </a:solidFill>
              </a:rPr>
              <a:t>Satur visus lādiņus, kuri tajā fizikālā telpā tiek izšauti, vilkti pa gaisu un detonēti nolaižoties uz zemes slāni.</a:t>
            </a:r>
          </a:p>
        </p:txBody>
      </p:sp>
    </p:spTree>
    <p:extLst>
      <p:ext uri="{BB962C8B-B14F-4D97-AF65-F5344CB8AC3E}">
        <p14:creationId xmlns:p14="http://schemas.microsoft.com/office/powerpoint/2010/main" val="749698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7A4B6-5A6D-95E3-4C06-78257996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18AD1108-FC12-3BCA-CD15-13AD5A5D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" y="365125"/>
            <a:ext cx="3362866" cy="2621139"/>
          </a:xfrm>
        </p:spPr>
        <p:txBody>
          <a:bodyPr/>
          <a:lstStyle/>
          <a:p>
            <a:r>
              <a:rPr lang="lv-LV" dirty="0"/>
              <a:t>Modeļi – Karte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4E770485-E781-A4AD-FC15-1FAD65D146E0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800" dirty="0"/>
              <a:t>Komponenšu modelis;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800" dirty="0"/>
              <a:t>Iekļauti slāņi, kamera, atlasītājs un lādiņu laukums;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800" dirty="0"/>
              <a:t>Atlasītājs un kamera ir atkarīga no zemes slāņa;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800" dirty="0"/>
              <a:t>Lādiņu laukums ir atkarīgs no zemes un objektu slāņa.</a:t>
            </a: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47622F08-2559-2310-05E2-8E00A23A3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268" y="1661669"/>
            <a:ext cx="8082211" cy="353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26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07A3-DA31-B45A-858F-0F5AF757A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5980BBA-D37D-73B8-88D7-7F0C5C712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" y="365125"/>
            <a:ext cx="3362866" cy="2621139"/>
          </a:xfrm>
        </p:spPr>
        <p:txBody>
          <a:bodyPr/>
          <a:lstStyle/>
          <a:p>
            <a:r>
              <a:rPr lang="lv-LV" dirty="0"/>
              <a:t>Modeļi – Karte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FC888045-E058-9B3B-474A-04C47062E83A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Klašu modelis;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Visi slāņi ir mantoti no bāzes slāņa klases;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lv-LV" sz="280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B885B71C-E5A9-E091-912E-AE9647A97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988" y="412570"/>
            <a:ext cx="6696933" cy="574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95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10DA6-7F3F-5C03-FD7F-C404B876C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C3486462-ADDB-3E1D-DD91-5998E783F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" y="365125"/>
            <a:ext cx="3362866" cy="2621139"/>
          </a:xfrm>
        </p:spPr>
        <p:txBody>
          <a:bodyPr/>
          <a:lstStyle/>
          <a:p>
            <a:r>
              <a:rPr lang="lv-LV" dirty="0"/>
              <a:t>Modeļi – Kartes objekti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2704D871-E989-1153-E76F-F05F45974E1B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Atrodas </a:t>
            </a:r>
            <a:r>
              <a:rPr lang="lv-LV" sz="2000" i="1" dirty="0" err="1"/>
              <a:t>EntityLayer</a:t>
            </a:r>
            <a:r>
              <a:rPr lang="lv-LV" sz="2000" dirty="0"/>
              <a:t> slānī;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Norāda objektu kartē;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Glabā statiskās un mainīgās īpašības;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Mantotājiem papildus īpašības.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2CA27721-A0FE-89EE-0D2D-C10721143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713" y="603607"/>
            <a:ext cx="6113537" cy="540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90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D44A7-8D88-14DD-1867-D265AB3F7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1CCDD0B8-FF88-DDED-972B-E635CC5BB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" y="365125"/>
            <a:ext cx="3362866" cy="2621139"/>
          </a:xfrm>
        </p:spPr>
        <p:txBody>
          <a:bodyPr/>
          <a:lstStyle/>
          <a:p>
            <a:r>
              <a:rPr lang="lv-LV" dirty="0"/>
              <a:t>Modeļi – Kartes objektu</a:t>
            </a:r>
            <a:br>
              <a:rPr lang="lv-LV" dirty="0"/>
            </a:br>
            <a:r>
              <a:rPr lang="lv-LV" dirty="0"/>
              <a:t>īpašības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4B0BC8BD-C7EC-EF66-74A7-FABAB7EC75F4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Nemainīgās īpašības;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Katrs objekts kartē norāda uz tām;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Ierīces īpašību klasei daudz jaunu īpašību.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5D9F3140-4CCD-F19F-B8F8-09CCA992B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970" y="749324"/>
            <a:ext cx="5978543" cy="508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53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D6CC-3ACB-A7A9-5B69-66A328545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1DE65FA-42E6-C2B1-BCEF-181C34AC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" y="365125"/>
            <a:ext cx="3362866" cy="2621139"/>
          </a:xfrm>
        </p:spPr>
        <p:txBody>
          <a:bodyPr/>
          <a:lstStyle/>
          <a:p>
            <a:r>
              <a:rPr lang="lv-LV" dirty="0"/>
              <a:t>Modeļi – Lādiņš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087CEE59-3B70-AE1F-8DAA-F46B791BD368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Klašu modelis;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Glabā ballistikas datus;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Satur metodes ballistikas aprēķiniem un detonācijai.</a:t>
            </a: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8FDE6561-2F6A-26B8-3743-900F0ED8B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528" y="783886"/>
            <a:ext cx="4214004" cy="529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51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3B126-8BE2-E337-1498-50EB8353B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5E253F1F-D108-3D0E-F28F-6D38DA34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2" y="365125"/>
            <a:ext cx="3362866" cy="2621139"/>
          </a:xfrm>
        </p:spPr>
        <p:txBody>
          <a:bodyPr/>
          <a:lstStyle/>
          <a:p>
            <a:r>
              <a:rPr lang="lv-LV" dirty="0"/>
              <a:t>Modeļi – Kartes resurss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130C2B7F-75E6-6CC6-3361-AA50DDF2A065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Klašu modelis;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Glabā slāņu, pieejamo ierīču un grūtības palielināšanas datus;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Pats resurss tiek glabāts kā </a:t>
            </a:r>
            <a:r>
              <a:rPr lang="lv-LV" sz="2000" i="1" dirty="0"/>
              <a:t>.</a:t>
            </a:r>
            <a:r>
              <a:rPr lang="lv-LV" sz="2000" i="1" dirty="0" err="1"/>
              <a:t>tres</a:t>
            </a:r>
            <a:r>
              <a:rPr lang="lv-LV" sz="2000" i="1" dirty="0"/>
              <a:t> </a:t>
            </a:r>
            <a:r>
              <a:rPr lang="lv-LV" sz="2000" dirty="0"/>
              <a:t>fails </a:t>
            </a:r>
            <a:r>
              <a:rPr lang="lv-LV" sz="2000" i="1" dirty="0" err="1"/>
              <a:t>Godot</a:t>
            </a:r>
            <a:r>
              <a:rPr lang="lv-LV" sz="2000" dirty="0"/>
              <a:t> dzinī.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ED376D8-74D0-526B-E095-46F4306996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796" b="84"/>
          <a:stretch>
            <a:fillRect/>
          </a:stretch>
        </p:blipFill>
        <p:spPr bwMode="auto">
          <a:xfrm>
            <a:off x="4549189" y="736089"/>
            <a:ext cx="6469085" cy="50868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9085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06A56-4559-C70A-405D-68C09A72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3E4EF55A-D41A-4E91-76B2-24339626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60" y="365125"/>
            <a:ext cx="4235570" cy="2621139"/>
          </a:xfrm>
        </p:spPr>
        <p:txBody>
          <a:bodyPr>
            <a:normAutofit/>
          </a:bodyPr>
          <a:lstStyle/>
          <a:p>
            <a:r>
              <a:rPr lang="lv-LV" dirty="0"/>
              <a:t>Modeļi – Spēles laukuma ainas stadijas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5F1B4F4-28B6-429C-C988-46ACA1792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298" y="1289643"/>
            <a:ext cx="6943042" cy="3703751"/>
          </a:xfrm>
          <a:prstGeom prst="rect">
            <a:avLst/>
          </a:prstGeom>
        </p:spPr>
      </p:pic>
      <p:sp>
        <p:nvSpPr>
          <p:cNvPr id="6" name="Teksta vietturis 15">
            <a:extLst>
              <a:ext uri="{FF2B5EF4-FFF2-40B4-BE49-F238E27FC236}">
                <a16:creationId xmlns:a16="http://schemas.microsoft.com/office/drawing/2014/main" id="{1F2217BE-BEF7-D943-F38A-470CE6B296AF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4596442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Dinamiskā struktūra;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Norāda stadiju maiņas secību;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Sākas pēc kartes datu ielādēšanas spēles laukuma ainā;</a:t>
            </a:r>
          </a:p>
        </p:txBody>
      </p:sp>
    </p:spTree>
    <p:extLst>
      <p:ext uri="{BB962C8B-B14F-4D97-AF65-F5344CB8AC3E}">
        <p14:creationId xmlns:p14="http://schemas.microsoft.com/office/powerpoint/2010/main" val="20914291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BBBB8-E39F-FF89-67EA-AC5734AB9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C959312-D64F-8C2E-AC3E-5F43F5EA8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60" y="365125"/>
            <a:ext cx="4235570" cy="2621139"/>
          </a:xfrm>
        </p:spPr>
        <p:txBody>
          <a:bodyPr>
            <a:normAutofit/>
          </a:bodyPr>
          <a:lstStyle/>
          <a:p>
            <a:r>
              <a:rPr lang="lv-LV" dirty="0"/>
              <a:t>Modeļi – Līmeņu atlases klases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8DB5774A-F67B-3F08-0CB3-4188803D0B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259"/>
          <a:stretch>
            <a:fillRect/>
          </a:stretch>
        </p:blipFill>
        <p:spPr bwMode="auto">
          <a:xfrm>
            <a:off x="5363832" y="544255"/>
            <a:ext cx="6201889" cy="20436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8FDA27-FA61-DE76-BC6C-D6DC639A85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6" r="-2660" b="52621"/>
          <a:stretch>
            <a:fillRect/>
          </a:stretch>
        </p:blipFill>
        <p:spPr bwMode="auto">
          <a:xfrm>
            <a:off x="5363832" y="2986264"/>
            <a:ext cx="4180463" cy="12838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6E544298-E2C9-FD14-78B1-92F0EF70C7F0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4596442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Datu struktūras;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i="1" dirty="0" err="1"/>
              <a:t>LevelSet</a:t>
            </a:r>
            <a:r>
              <a:rPr lang="lv-LV" sz="2400" dirty="0"/>
              <a:t> ir līmeņu kopa;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i="1" dirty="0" err="1"/>
              <a:t>LevelProps</a:t>
            </a:r>
            <a:r>
              <a:rPr lang="lv-LV" sz="2400" dirty="0"/>
              <a:t> ir līmeņa īpašības;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i="1" dirty="0" err="1"/>
              <a:t>LevelScore</a:t>
            </a:r>
            <a:r>
              <a:rPr lang="lv-LV" sz="2400" dirty="0"/>
              <a:t> glabā uzvarētā līmeņa datus, ar kuru var pārbaudīt nosacījumus nākamā līmeņa atslēgšanai.</a:t>
            </a:r>
            <a:endParaRPr lang="lv-LV" sz="2400" i="1" dirty="0"/>
          </a:p>
        </p:txBody>
      </p:sp>
    </p:spTree>
    <p:extLst>
      <p:ext uri="{BB962C8B-B14F-4D97-AF65-F5344CB8AC3E}">
        <p14:creationId xmlns:p14="http://schemas.microsoft.com/office/powerpoint/2010/main" val="42784932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02B09-4FB7-CFF7-57CC-3FF4A0C2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FE5BCC89-505E-A2C0-55C9-37D9DD7D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6" y="365125"/>
            <a:ext cx="4209510" cy="2621139"/>
          </a:xfrm>
        </p:spPr>
        <p:txBody>
          <a:bodyPr/>
          <a:lstStyle/>
          <a:p>
            <a:r>
              <a:rPr lang="lv-LV" dirty="0"/>
              <a:t>Kodu priekšskatījumi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E72A984C-6066-6495-4499-534985E0777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Ierīces īpašības: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Augstuma, traversa leņķa ierobežojumi;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Piegādes ierobežojumi;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Lādiņa īpašības.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Lādiņa ballistika: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Pretestība un vilces aprēķini; 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Detonācijas rādiusi;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Objektu bojāšana.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Uguņošanas stadija: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Ierīces atkārtotā uguņošana;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Sekošana.</a:t>
            </a:r>
          </a:p>
        </p:txBody>
      </p:sp>
    </p:spTree>
    <p:extLst>
      <p:ext uri="{BB962C8B-B14F-4D97-AF65-F5344CB8AC3E}">
        <p14:creationId xmlns:p14="http://schemas.microsoft.com/office/powerpoint/2010/main" val="427165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A752-E90C-4BA8-E9E1-F937E873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6F3DEBD-4FE8-D3D1-8D78-1475C28F8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6" y="365125"/>
            <a:ext cx="4209510" cy="2621139"/>
          </a:xfrm>
        </p:spPr>
        <p:txBody>
          <a:bodyPr/>
          <a:lstStyle/>
          <a:p>
            <a:r>
              <a:rPr lang="lv-LV" dirty="0"/>
              <a:t>Kodu priekšskatījumi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CBC8F78D-0422-2B6E-0EA0-A3388B75703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Kartes komponente: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Kartes datu ielādēšana;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Individuālo slāņu datu ielādēšana;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Kameras kalibrēšana;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Kameras vilkšana kartes laukumā.</a:t>
            </a:r>
          </a:p>
        </p:txBody>
      </p:sp>
    </p:spTree>
    <p:extLst>
      <p:ext uri="{BB962C8B-B14F-4D97-AF65-F5344CB8AC3E}">
        <p14:creationId xmlns:p14="http://schemas.microsoft.com/office/powerpoint/2010/main" val="1005519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99CA906-7079-EBC7-12E9-C10C9ACB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7" y="365125"/>
            <a:ext cx="2806639" cy="2621139"/>
          </a:xfrm>
        </p:spPr>
        <p:txBody>
          <a:bodyPr/>
          <a:lstStyle/>
          <a:p>
            <a:r>
              <a:rPr lang="lv-LV" dirty="0"/>
              <a:t>Kods – Ierīces īpašības</a:t>
            </a:r>
          </a:p>
        </p:txBody>
      </p:sp>
      <p:pic>
        <p:nvPicPr>
          <p:cNvPr id="17" name="Attēls 16">
            <a:extLst>
              <a:ext uri="{FF2B5EF4-FFF2-40B4-BE49-F238E27FC236}">
                <a16:creationId xmlns:a16="http://schemas.microsoft.com/office/drawing/2014/main" id="{1AB15182-83D1-7054-5583-524B5DB38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973" y="159702"/>
            <a:ext cx="5883275" cy="653859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073668D8-A49D-692D-75F4-BC48F9E07D08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Augstuma, traversa leņķa ierobežojumi;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Piegādes ierobežojumi;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Lādiņa īpašības.</a:t>
            </a:r>
          </a:p>
        </p:txBody>
      </p:sp>
    </p:spTree>
    <p:extLst>
      <p:ext uri="{BB962C8B-B14F-4D97-AF65-F5344CB8AC3E}">
        <p14:creationId xmlns:p14="http://schemas.microsoft.com/office/powerpoint/2010/main" val="2545403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A939-B429-996D-994F-B82194F3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85FAFF2-C250-24F6-9196-76AEF3455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7" y="365125"/>
            <a:ext cx="2806639" cy="2621139"/>
          </a:xfrm>
        </p:spPr>
        <p:txBody>
          <a:bodyPr/>
          <a:lstStyle/>
          <a:p>
            <a:r>
              <a:rPr lang="lv-LV" dirty="0"/>
              <a:t>Kods – Lādiņa ballistika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BCE67539-7AE0-E21D-8BAD-61AAA52D032F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3060941" cy="27936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Pretestības un vilces aprēķini;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Izmanto lādiņa un gaisa īpašības.</a:t>
            </a:r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7F9847E3-BB5D-254C-31B8-3F955E033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117" y="563533"/>
            <a:ext cx="7522868" cy="53886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016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88382-4621-FE70-FAD5-453F7DE7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C88F4F5A-B896-0E8F-F3B4-03FA6E89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7" y="365125"/>
            <a:ext cx="2806639" cy="2621139"/>
          </a:xfrm>
        </p:spPr>
        <p:txBody>
          <a:bodyPr/>
          <a:lstStyle/>
          <a:p>
            <a:r>
              <a:rPr lang="lv-LV" dirty="0"/>
              <a:t>Kods – Lādiņa ballistika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97403EB2-3784-D61A-A2D4-07B4B07B7117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3060941" cy="27936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Detonācijas rādiusu aprēķini;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Letālā un fragmentu rādiusi;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Ņemot vērā arī augstumu.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23184825-D796-147C-CBDE-6E1727F0A9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46"/>
          <a:stretch/>
        </p:blipFill>
        <p:spPr bwMode="auto">
          <a:xfrm>
            <a:off x="3679273" y="901556"/>
            <a:ext cx="8125783" cy="450720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26066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5688-D81B-40A9-E847-7E0716C4B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7A4001A-B800-B349-1466-C72A2274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3" y="365125"/>
            <a:ext cx="3129952" cy="2621139"/>
          </a:xfrm>
        </p:spPr>
        <p:txBody>
          <a:bodyPr/>
          <a:lstStyle/>
          <a:p>
            <a:r>
              <a:rPr lang="lv-LV" dirty="0"/>
              <a:t>Kods – Uguņošanas stadija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F504DC50-1340-0581-8EB9-20BB0AE7EBB3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Detonācijas un šķembu rādiusu aprēķini.</a:t>
            </a:r>
          </a:p>
        </p:txBody>
      </p:sp>
      <p:pic>
        <p:nvPicPr>
          <p:cNvPr id="7" name="Attēls 6">
            <a:extLst>
              <a:ext uri="{FF2B5EF4-FFF2-40B4-BE49-F238E27FC236}">
                <a16:creationId xmlns:a16="http://schemas.microsoft.com/office/drawing/2014/main" id="{6C8A8D83-046B-C554-80C6-6E712F0A0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49" y="699908"/>
            <a:ext cx="7912139" cy="501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47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D785-5D4E-0253-2E6B-D4F52C9AF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73C6074-3443-AE8D-513C-C96A33932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3" y="365125"/>
            <a:ext cx="3129952" cy="2621139"/>
          </a:xfrm>
        </p:spPr>
        <p:txBody>
          <a:bodyPr/>
          <a:lstStyle/>
          <a:p>
            <a:r>
              <a:rPr lang="lv-LV" dirty="0"/>
              <a:t>Kods – Uguņošanas stadija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3466BF6B-98ED-3112-C893-BFF7ED6F8D59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Objektu bojāšana pēc detonācijas un tās šķembu rādiusiem.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F288B0DC-A0A7-B242-1FAA-A580D6ED8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835" y="438599"/>
            <a:ext cx="6800850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74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2911-6EF3-F39B-A45F-1DDC3F5F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5F8A3CE-43B7-7FDF-67D7-BEE02B16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3" y="365125"/>
            <a:ext cx="3129952" cy="2621139"/>
          </a:xfrm>
        </p:spPr>
        <p:txBody>
          <a:bodyPr/>
          <a:lstStyle/>
          <a:p>
            <a:r>
              <a:rPr lang="lv-LV" dirty="0"/>
              <a:t>Kods – Uguņošanas stadija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5E460EF1-53CE-6F6E-5073-02DC7DB54275}"/>
              </a:ext>
            </a:extLst>
          </p:cNvPr>
          <p:cNvSpPr txBox="1">
            <a:spLocks/>
          </p:cNvSpPr>
          <p:nvPr/>
        </p:nvSpPr>
        <p:spPr>
          <a:xfrm>
            <a:off x="130833" y="3699209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Ierīces atkārtotā uguņošana;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Pārbaude, vai ierīcei ir piegādāti lādiņi, tad uguņo.</a:t>
            </a:r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CEDEEBF0-0661-CBF6-6634-9FCD8BD9E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937" y="198280"/>
            <a:ext cx="6850066" cy="6168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07971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C5742-B431-DF26-DDCB-B102DFA2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0EB34D54-D8EF-86CD-E12C-35ADB7818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33" y="365125"/>
            <a:ext cx="3129952" cy="2621139"/>
          </a:xfrm>
        </p:spPr>
        <p:txBody>
          <a:bodyPr/>
          <a:lstStyle/>
          <a:p>
            <a:r>
              <a:rPr lang="lv-LV" dirty="0"/>
              <a:t>Kods – Uguņošanas stadija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8D43C506-5E24-A4A7-4F23-B18F29050CBA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Pēc uguņošanas skaitīšana;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Pārbaudes, vai noteikts skaits tika izšauts no ierīces;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000" dirty="0"/>
              <a:t>Pēc visu spēlētāja vai pretinieka izšaušanas uz nākamo stadiju.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23A4C88A-B144-036E-6D67-7627FC12D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116" y="426109"/>
            <a:ext cx="8402145" cy="57504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46351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31F5B-BA7D-BE5C-7E7A-B3475B973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2A21BFD5-C42B-C933-054F-B7CD0FE92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5" y="365125"/>
            <a:ext cx="3200400" cy="2621139"/>
          </a:xfrm>
        </p:spPr>
        <p:txBody>
          <a:bodyPr/>
          <a:lstStyle/>
          <a:p>
            <a:r>
              <a:rPr lang="lv-LV" dirty="0"/>
              <a:t>Kods – Kartes komponente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6E8EC51A-7E3C-5B9C-501D-FC8BB2230F5E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Kartes datu ielādēšana;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Katram kartes slānim ielādē savus datus;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Kamera tiek kalibrēta.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lv-LV" sz="2400" dirty="0"/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28C3EF2A-4391-6E7B-788E-1533871D5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4603" y="473530"/>
            <a:ext cx="7476951" cy="55994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82707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57F4F-8C08-F903-01AC-238D613BF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66205A16-5757-5677-A67B-30DE41994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5" y="365125"/>
            <a:ext cx="3200400" cy="2621139"/>
          </a:xfrm>
        </p:spPr>
        <p:txBody>
          <a:bodyPr/>
          <a:lstStyle/>
          <a:p>
            <a:r>
              <a:rPr lang="lv-LV" dirty="0"/>
              <a:t>Kods – Kartes komponente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8F81274D-182F-4EB2-1F65-7BE5765B7161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Kartes slāņu datu ielādēšana;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Slāņu klases mantotājiem atšķiras ielādēšanas metodes.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lv-LV" sz="2400" dirty="0"/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15950B96-E979-68BE-5AA9-225919800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412" y="899406"/>
            <a:ext cx="5010150" cy="1552575"/>
          </a:xfrm>
          <a:prstGeom prst="rect">
            <a:avLst/>
          </a:prstGeom>
        </p:spPr>
      </p:pic>
      <p:pic>
        <p:nvPicPr>
          <p:cNvPr id="7" name="Attēls 6">
            <a:extLst>
              <a:ext uri="{FF2B5EF4-FFF2-40B4-BE49-F238E27FC236}">
                <a16:creationId xmlns:a16="http://schemas.microsoft.com/office/drawing/2014/main" id="{B2CFD94B-64E0-5B4B-F7F4-11558BE97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229" y="3416060"/>
            <a:ext cx="3590925" cy="1971675"/>
          </a:xfrm>
          <a:prstGeom prst="rect">
            <a:avLst/>
          </a:prstGeom>
        </p:spPr>
      </p:pic>
      <p:sp>
        <p:nvSpPr>
          <p:cNvPr id="8" name="Teksta vietturis 15">
            <a:extLst>
              <a:ext uri="{FF2B5EF4-FFF2-40B4-BE49-F238E27FC236}">
                <a16:creationId xmlns:a16="http://schemas.microsoft.com/office/drawing/2014/main" id="{068C3CA5-3058-DEC2-287C-0295946C8AD1}"/>
              </a:ext>
            </a:extLst>
          </p:cNvPr>
          <p:cNvSpPr txBox="1">
            <a:spLocks/>
          </p:cNvSpPr>
          <p:nvPr/>
        </p:nvSpPr>
        <p:spPr>
          <a:xfrm>
            <a:off x="3647985" y="995759"/>
            <a:ext cx="2983303" cy="11435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i="1" dirty="0" err="1"/>
              <a:t>GroundLayer</a:t>
            </a:r>
            <a:r>
              <a:rPr lang="lv-LV" sz="2400" i="1" dirty="0"/>
              <a:t>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i="1" dirty="0" err="1"/>
              <a:t>DecorationLayer</a:t>
            </a:r>
            <a:endParaRPr lang="lv-LV" sz="2400" i="1" dirty="0"/>
          </a:p>
        </p:txBody>
      </p:sp>
      <p:sp>
        <p:nvSpPr>
          <p:cNvPr id="10" name="Teksta vietturis 15">
            <a:extLst>
              <a:ext uri="{FF2B5EF4-FFF2-40B4-BE49-F238E27FC236}">
                <a16:creationId xmlns:a16="http://schemas.microsoft.com/office/drawing/2014/main" id="{7B7C6628-2FA9-B6FE-FBE2-34E5E8328E5D}"/>
              </a:ext>
            </a:extLst>
          </p:cNvPr>
          <p:cNvSpPr txBox="1">
            <a:spLocks/>
          </p:cNvSpPr>
          <p:nvPr/>
        </p:nvSpPr>
        <p:spPr>
          <a:xfrm>
            <a:off x="3647984" y="4012866"/>
            <a:ext cx="2983303" cy="11435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i="1" dirty="0" err="1"/>
              <a:t>EntityLayer</a:t>
            </a:r>
            <a:r>
              <a:rPr lang="lv-LV" sz="2400" i="1" dirty="0"/>
              <a:t>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i="1" dirty="0" err="1"/>
              <a:t>DecorationLayer</a:t>
            </a:r>
            <a:endParaRPr lang="lv-LV" sz="2400" i="1" dirty="0"/>
          </a:p>
        </p:txBody>
      </p:sp>
    </p:spTree>
    <p:extLst>
      <p:ext uri="{BB962C8B-B14F-4D97-AF65-F5344CB8AC3E}">
        <p14:creationId xmlns:p14="http://schemas.microsoft.com/office/powerpoint/2010/main" val="18285246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C96F-576A-3075-B7E9-86A57EF0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A764D5B-7A7E-6984-69AD-B147F07D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5" y="365125"/>
            <a:ext cx="3200400" cy="2621139"/>
          </a:xfrm>
        </p:spPr>
        <p:txBody>
          <a:bodyPr/>
          <a:lstStyle/>
          <a:p>
            <a:r>
              <a:rPr lang="lv-LV" dirty="0"/>
              <a:t>Kods – Kartes komponente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449981F2-3E01-8DB8-1023-D713E0D502BA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800" i="1" dirty="0" err="1"/>
              <a:t>EntityLayer</a:t>
            </a:r>
            <a:r>
              <a:rPr lang="lv-LV" sz="1800" dirty="0"/>
              <a:t> un </a:t>
            </a:r>
            <a:r>
              <a:rPr lang="lv-LV" sz="1800" i="1" dirty="0" err="1"/>
              <a:t>OverlayLayer</a:t>
            </a:r>
            <a:r>
              <a:rPr lang="lv-LV" sz="1800" dirty="0"/>
              <a:t> atšķiras slāņu </a:t>
            </a:r>
            <a:r>
              <a:rPr lang="lv-LV" sz="1800" dirty="0" err="1"/>
              <a:t>ielādes</a:t>
            </a:r>
            <a:r>
              <a:rPr lang="lv-LV" sz="1800" dirty="0"/>
              <a:t> metodes;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800" dirty="0"/>
              <a:t>Individuāli režģu dati tiek ievietoti rindā;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1800" dirty="0"/>
              <a:t>Pēc tās instances parādīšanās tiek ievietota instanču sarakstā.</a:t>
            </a:r>
          </a:p>
        </p:txBody>
      </p:sp>
      <p:pic>
        <p:nvPicPr>
          <p:cNvPr id="9" name="Attēls 8">
            <a:extLst>
              <a:ext uri="{FF2B5EF4-FFF2-40B4-BE49-F238E27FC236}">
                <a16:creationId xmlns:a16="http://schemas.microsoft.com/office/drawing/2014/main" id="{84B985EA-EEA2-1691-FCD6-31EC9E5CA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429" y="221910"/>
            <a:ext cx="4970253" cy="2764354"/>
          </a:xfrm>
          <a:prstGeom prst="rect">
            <a:avLst/>
          </a:prstGeom>
        </p:spPr>
      </p:pic>
      <p:pic>
        <p:nvPicPr>
          <p:cNvPr id="12" name="Attēls 11">
            <a:extLst>
              <a:ext uri="{FF2B5EF4-FFF2-40B4-BE49-F238E27FC236}">
                <a16:creationId xmlns:a16="http://schemas.microsoft.com/office/drawing/2014/main" id="{39769EE5-5C1C-1698-B4EF-FE9D3C233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429" y="3050834"/>
            <a:ext cx="4970253" cy="3186060"/>
          </a:xfrm>
          <a:prstGeom prst="rect">
            <a:avLst/>
          </a:prstGeom>
        </p:spPr>
      </p:pic>
      <p:sp>
        <p:nvSpPr>
          <p:cNvPr id="13" name="Teksta vietturis 15">
            <a:extLst>
              <a:ext uri="{FF2B5EF4-FFF2-40B4-BE49-F238E27FC236}">
                <a16:creationId xmlns:a16="http://schemas.microsoft.com/office/drawing/2014/main" id="{A9E586F0-6B75-E3E5-F859-C5F0FDA3DDD1}"/>
              </a:ext>
            </a:extLst>
          </p:cNvPr>
          <p:cNvSpPr txBox="1">
            <a:spLocks/>
          </p:cNvSpPr>
          <p:nvPr/>
        </p:nvSpPr>
        <p:spPr>
          <a:xfrm>
            <a:off x="3726340" y="1103898"/>
            <a:ext cx="2235232" cy="11435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400" dirty="0"/>
              <a:t>Režģa pievienošana laukumā</a:t>
            </a:r>
          </a:p>
        </p:txBody>
      </p:sp>
      <p:sp>
        <p:nvSpPr>
          <p:cNvPr id="14" name="Teksta vietturis 15">
            <a:extLst>
              <a:ext uri="{FF2B5EF4-FFF2-40B4-BE49-F238E27FC236}">
                <a16:creationId xmlns:a16="http://schemas.microsoft.com/office/drawing/2014/main" id="{25E4A1DA-1D7E-8E6C-891C-2A8C5E1700C1}"/>
              </a:ext>
            </a:extLst>
          </p:cNvPr>
          <p:cNvSpPr txBox="1">
            <a:spLocks/>
          </p:cNvSpPr>
          <p:nvPr/>
        </p:nvSpPr>
        <p:spPr>
          <a:xfrm>
            <a:off x="3860768" y="4038716"/>
            <a:ext cx="2235232" cy="11435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400" dirty="0"/>
              <a:t>Režģa instances parādīšanās darbības</a:t>
            </a:r>
          </a:p>
        </p:txBody>
      </p:sp>
    </p:spTree>
    <p:extLst>
      <p:ext uri="{BB962C8B-B14F-4D97-AF65-F5344CB8AC3E}">
        <p14:creationId xmlns:p14="http://schemas.microsoft.com/office/powerpoint/2010/main" val="23880999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CAE67-9D65-267E-594B-6862B5C7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0E5A285-6D16-72AE-29C0-61CDD4A8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5" y="365125"/>
            <a:ext cx="3200400" cy="2621139"/>
          </a:xfrm>
        </p:spPr>
        <p:txBody>
          <a:bodyPr/>
          <a:lstStyle/>
          <a:p>
            <a:r>
              <a:rPr lang="lv-LV" dirty="0"/>
              <a:t>Kods – Kartes komponente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C4E27931-925B-2553-0866-CBA705998A55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Iegūts kameras kalibrēšanas slāņa izmērs;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Pēc režģa izmēriem aprēķina kameras ierobežojumus.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78D7B762-EF64-05D7-B099-A9A64F524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5855" y="1172921"/>
            <a:ext cx="7885347" cy="42530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05010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F150-8E70-543F-AA5D-C895DFAB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B1D15C0-B40C-F890-C39B-EF4B3387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5" y="365125"/>
            <a:ext cx="3200400" cy="2621139"/>
          </a:xfrm>
        </p:spPr>
        <p:txBody>
          <a:bodyPr/>
          <a:lstStyle/>
          <a:p>
            <a:r>
              <a:rPr lang="lv-LV" dirty="0"/>
              <a:t>Kods – Kartes komponente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1FA843DA-1B2E-BA05-26AF-8A060FF58028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Iegūst peles ievades datus vilkšanas laikā;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Ar ievades datiem ierobežo kameras novietojumu.</a:t>
            </a:r>
          </a:p>
        </p:txBody>
      </p:sp>
      <p:pic>
        <p:nvPicPr>
          <p:cNvPr id="3" name="Attēls 2">
            <a:extLst>
              <a:ext uri="{FF2B5EF4-FFF2-40B4-BE49-F238E27FC236}">
                <a16:creationId xmlns:a16="http://schemas.microsoft.com/office/drawing/2014/main" id="{31D61CC5-64C8-ED34-FF6D-80F1A1503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91457" y="323713"/>
            <a:ext cx="7235701" cy="62105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712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3F4F-FD35-BD02-5FB8-DB430628A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CF2255C4-8C76-3DAE-7908-0A6552063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6" y="365125"/>
            <a:ext cx="4209510" cy="2621139"/>
          </a:xfrm>
        </p:spPr>
        <p:txBody>
          <a:bodyPr/>
          <a:lstStyle/>
          <a:p>
            <a:r>
              <a:rPr lang="lv-LV" dirty="0"/>
              <a:t>Testēšana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739A7219-8030-13CC-FA7A-F15BAA56D50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Izstrādes laikā un pēc projekta kompilēšanas tiek veikta testēšana;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Melnās kastes un baltās kastes testēšanas metodoloģija tiks izmantota;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>
                <a:solidFill>
                  <a:schemeClr val="bg1"/>
                </a:solidFill>
              </a:rPr>
              <a:t>Izstrādes laikā testēšanai izmantota baltās kastes metodoloģija;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Pēc kompilēšanas melnās kastes metodoloģija.</a:t>
            </a:r>
            <a:endParaRPr lang="lv-LV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5095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B6C19-A0C5-E532-5A48-49DBC3437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C4E8AE9A-055C-D157-1152-211600EC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4" y="365125"/>
            <a:ext cx="3312543" cy="2621139"/>
          </a:xfrm>
        </p:spPr>
        <p:txBody>
          <a:bodyPr/>
          <a:lstStyle/>
          <a:p>
            <a:r>
              <a:rPr lang="lv-LV" dirty="0"/>
              <a:t>Testēšana - Identifikatori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04F6316E-C323-2F44-3EDA-7FBA4F96448B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Saīsinājumi, kuri tiks izmantoti testēšanas žurnāla ierakstiem.</a:t>
            </a:r>
          </a:p>
        </p:txBody>
      </p:sp>
      <p:graphicFrame>
        <p:nvGraphicFramePr>
          <p:cNvPr id="3" name="Tabula 2">
            <a:extLst>
              <a:ext uri="{FF2B5EF4-FFF2-40B4-BE49-F238E27FC236}">
                <a16:creationId xmlns:a16="http://schemas.microsoft.com/office/drawing/2014/main" id="{0E93DA7F-5EB8-0A39-9FD3-2031AA5D1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363294"/>
              </p:ext>
            </p:extLst>
          </p:nvPr>
        </p:nvGraphicFramePr>
        <p:xfrm>
          <a:off x="3757284" y="113206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08051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06084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lv-LV" dirty="0"/>
                        <a:t>Žurnāla saīsinājums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v-LV" dirty="0"/>
                        <a:t>Nozīme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9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lv-LV" dirty="0"/>
                        <a:t>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v-LV" dirty="0"/>
                        <a:t>Prasība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22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lv-LV" dirty="0"/>
                        <a:t>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v-LV" dirty="0"/>
                        <a:t>Testpiemērs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738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lv-LV" dirty="0"/>
                        <a:t>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v-LV" dirty="0"/>
                        <a:t>Testa žurnāls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76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lv-LV" dirty="0"/>
                        <a:t>KZ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v-LV" dirty="0"/>
                        <a:t>Kļūdas ziņojums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983417"/>
                  </a:ext>
                </a:extLst>
              </a:tr>
            </a:tbl>
          </a:graphicData>
        </a:graphic>
      </p:graphicFrame>
      <p:graphicFrame>
        <p:nvGraphicFramePr>
          <p:cNvPr id="5" name="Tabula 4">
            <a:extLst>
              <a:ext uri="{FF2B5EF4-FFF2-40B4-BE49-F238E27FC236}">
                <a16:creationId xmlns:a16="http://schemas.microsoft.com/office/drawing/2014/main" id="{94E58E84-69D3-05BA-C142-52C775009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21295"/>
              </p:ext>
            </p:extLst>
          </p:nvPr>
        </p:nvGraphicFramePr>
        <p:xfrm>
          <a:off x="3757284" y="3711577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08051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06084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lv-LV" dirty="0"/>
                        <a:t>Funkcionalitāšu grupas saīsinājums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v-LV" dirty="0"/>
                        <a:t>Nozīme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89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lv-LV" dirty="0"/>
                        <a:t>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v-LV" dirty="0"/>
                        <a:t>Sākums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226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lv-LV" dirty="0"/>
                        <a:t>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v-LV" dirty="0"/>
                        <a:t>Līmeņa atlase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2738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lv-LV" dirty="0"/>
                        <a:t>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v-LV" dirty="0"/>
                        <a:t>Spēles lauks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76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lv-LV" dirty="0"/>
                        <a:t>VS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lv-LV" dirty="0"/>
                        <a:t>Vispārīgie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983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0267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0A51D-3A8C-A93F-C0AE-D6305689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A064133-B7EA-BC66-5A30-C1AFB546B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4" y="365125"/>
            <a:ext cx="3312543" cy="2621139"/>
          </a:xfrm>
        </p:spPr>
        <p:txBody>
          <a:bodyPr/>
          <a:lstStyle/>
          <a:p>
            <a:r>
              <a:rPr lang="lv-LV" dirty="0"/>
              <a:t>Testēšana – Testpiemēru fragments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FE0DD2E3-7809-F038-414F-CA113CAB4745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Saraksta fragments, kuras apraksta testējamas funkcionalitātes.</a:t>
            </a:r>
          </a:p>
        </p:txBody>
      </p:sp>
      <p:pic>
        <p:nvPicPr>
          <p:cNvPr id="6" name="Attēls 5">
            <a:extLst>
              <a:ext uri="{FF2B5EF4-FFF2-40B4-BE49-F238E27FC236}">
                <a16:creationId xmlns:a16="http://schemas.microsoft.com/office/drawing/2014/main" id="{0FB39449-BFFB-9080-A81A-AF745CE43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40"/>
          <a:stretch>
            <a:fillRect/>
          </a:stretch>
        </p:blipFill>
        <p:spPr>
          <a:xfrm>
            <a:off x="3553813" y="1966823"/>
            <a:ext cx="8247123" cy="251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636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631E6-FF56-0AC8-A1EE-E5CC934D3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0564A3B-DDFA-0918-E9A5-11AE2C4E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4" y="365125"/>
            <a:ext cx="3312543" cy="2621139"/>
          </a:xfrm>
        </p:spPr>
        <p:txBody>
          <a:bodyPr/>
          <a:lstStyle/>
          <a:p>
            <a:r>
              <a:rPr lang="lv-LV" dirty="0"/>
              <a:t>Testēšana – Žurnāla fragments</a:t>
            </a:r>
          </a:p>
        </p:txBody>
      </p:sp>
      <p:sp>
        <p:nvSpPr>
          <p:cNvPr id="18" name="Teksta vietturis 15">
            <a:extLst>
              <a:ext uri="{FF2B5EF4-FFF2-40B4-BE49-F238E27FC236}">
                <a16:creationId xmlns:a16="http://schemas.microsoft.com/office/drawing/2014/main" id="{3AA778CF-B003-ECEB-037D-59671E24C620}"/>
              </a:ext>
            </a:extLst>
          </p:cNvPr>
          <p:cNvSpPr txBox="1">
            <a:spLocks/>
          </p:cNvSpPr>
          <p:nvPr/>
        </p:nvSpPr>
        <p:spPr>
          <a:xfrm>
            <a:off x="130833" y="3575624"/>
            <a:ext cx="2983303" cy="29172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400" dirty="0"/>
              <a:t>Žurnāla fragments, kuras apraksta testa rezultātus.</a:t>
            </a:r>
            <a:endParaRPr lang="lv-LV" dirty="0"/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B77FE404-880E-563F-E239-562AEE86F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950" y="1890858"/>
            <a:ext cx="8479767" cy="605698"/>
          </a:xfrm>
          <a:prstGeom prst="rect">
            <a:avLst/>
          </a:prstGeom>
        </p:spPr>
      </p:pic>
      <p:pic>
        <p:nvPicPr>
          <p:cNvPr id="7" name="Attēls 6">
            <a:extLst>
              <a:ext uri="{FF2B5EF4-FFF2-40B4-BE49-F238E27FC236}">
                <a16:creationId xmlns:a16="http://schemas.microsoft.com/office/drawing/2014/main" id="{B3070DC9-A881-3F95-19BA-4BF6774E9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950" y="2496557"/>
            <a:ext cx="8479767" cy="223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053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749AC-FD13-DEB4-6693-AC8ADD23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5D471C7-2A91-4D1B-6D95-FAE1382D1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6" y="365125"/>
            <a:ext cx="4209510" cy="2621139"/>
          </a:xfrm>
        </p:spPr>
        <p:txBody>
          <a:bodyPr/>
          <a:lstStyle/>
          <a:p>
            <a:r>
              <a:rPr lang="lv-LV" dirty="0"/>
              <a:t>Secinājumi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AC97BA48-1DE4-F2E7-58AB-C124318F5D4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Sākotnēji šķietami vienkārši izstrādājama;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Izstrādes daļa bija apjomīgākā;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Izstrāde bija sarežģītāka, jo vienlaicīgi tika apgūta cita </a:t>
            </a:r>
            <a:r>
              <a:rPr lang="lv-LV" sz="2800" dirty="0" err="1"/>
              <a:t>prog</a:t>
            </a:r>
            <a:r>
              <a:rPr lang="lv-LV" sz="2800" dirty="0"/>
              <a:t>. valoda un dzinis;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Personīgi bija OOP izstrādes pārbaudījums;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Galvenie mērķi izpildīti, pat pievienojot papildus funkcionalitātes.</a:t>
            </a:r>
          </a:p>
        </p:txBody>
      </p:sp>
    </p:spTree>
    <p:extLst>
      <p:ext uri="{BB962C8B-B14F-4D97-AF65-F5344CB8AC3E}">
        <p14:creationId xmlns:p14="http://schemas.microsoft.com/office/powerpoint/2010/main" val="10842041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1EB0-343D-C878-0341-F34F988F6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A29F9C0-C59E-E93E-EF0A-616EA7F3C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6" y="365125"/>
            <a:ext cx="4209510" cy="2621139"/>
          </a:xfrm>
        </p:spPr>
        <p:txBody>
          <a:bodyPr/>
          <a:lstStyle/>
          <a:p>
            <a:r>
              <a:rPr lang="lv-LV" dirty="0"/>
              <a:t>Ainas priekšskatījumi</a:t>
            </a:r>
          </a:p>
        </p:txBody>
      </p:sp>
      <p:sp>
        <p:nvSpPr>
          <p:cNvPr id="11" name="Teksta vietturis 10">
            <a:extLst>
              <a:ext uri="{FF2B5EF4-FFF2-40B4-BE49-F238E27FC236}">
                <a16:creationId xmlns:a16="http://schemas.microsoft.com/office/drawing/2014/main" id="{2E0B880C-077B-EC42-504C-0956E476464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14949" y="365125"/>
            <a:ext cx="6600825" cy="5740400"/>
          </a:xfrm>
        </p:spPr>
        <p:txBody>
          <a:bodyPr anchor="ctr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Sākuma aina: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Iestatījumi;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Anotācija;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Pieejamās ierīces.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Līmeņu atlases aina;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Līmeņa informācija.</a:t>
            </a:r>
            <a:endParaRPr lang="lv-LV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lv-LV" sz="2800" dirty="0"/>
              <a:t>Spēles laukuma aina: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Kartes laukums;</a:t>
            </a:r>
          </a:p>
          <a:p>
            <a:pPr marL="1143000" lvl="1" indent="-457200"/>
            <a:r>
              <a:rPr lang="lv-LV" sz="2800" dirty="0">
                <a:solidFill>
                  <a:schemeClr val="bg1"/>
                </a:solidFill>
              </a:rPr>
              <a:t>Mērķu iznīcināšana.</a:t>
            </a:r>
            <a:endParaRPr lang="lv-LV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lv-LV" sz="2800" dirty="0"/>
          </a:p>
        </p:txBody>
      </p:sp>
    </p:spTree>
    <p:extLst>
      <p:ext uri="{BB962C8B-B14F-4D97-AF65-F5344CB8AC3E}">
        <p14:creationId xmlns:p14="http://schemas.microsoft.com/office/powerpoint/2010/main" val="26919104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92202-62AB-9F0A-F1FB-EA758036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3F40BA5-D57B-E796-669E-CCB6070DB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Sākuma aina</a:t>
            </a:r>
          </a:p>
        </p:txBody>
      </p:sp>
      <p:pic>
        <p:nvPicPr>
          <p:cNvPr id="9" name="Attēls 8">
            <a:extLst>
              <a:ext uri="{FF2B5EF4-FFF2-40B4-BE49-F238E27FC236}">
                <a16:creationId xmlns:a16="http://schemas.microsoft.com/office/drawing/2014/main" id="{FAD0FE07-040C-99FF-6097-7F9AD9638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70" y="0"/>
            <a:ext cx="6709860" cy="6858000"/>
          </a:xfrm>
          <a:prstGeom prst="rect">
            <a:avLst/>
          </a:prstGeom>
        </p:spPr>
      </p:pic>
      <p:sp>
        <p:nvSpPr>
          <p:cNvPr id="10" name="Teksta vietturis 15">
            <a:extLst>
              <a:ext uri="{FF2B5EF4-FFF2-40B4-BE49-F238E27FC236}">
                <a16:creationId xmlns:a16="http://schemas.microsoft.com/office/drawing/2014/main" id="{4BA6E597-7B99-6560-B9AA-EA444A80A5E8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Tikko atverot datorspēli</a:t>
            </a:r>
          </a:p>
        </p:txBody>
      </p:sp>
    </p:spTree>
    <p:extLst>
      <p:ext uri="{BB962C8B-B14F-4D97-AF65-F5344CB8AC3E}">
        <p14:creationId xmlns:p14="http://schemas.microsoft.com/office/powerpoint/2010/main" val="9382967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45A0B-9A51-12B9-D9B5-E0E086D95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C18DDBE-C861-A2F8-03BB-2128D0E1F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Sākuma aina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E8F7EBAE-EB24-0FCA-974E-1B305E85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70" y="0"/>
            <a:ext cx="6709860" cy="6858000"/>
          </a:xfrm>
          <a:prstGeom prst="rect">
            <a:avLst/>
          </a:prstGeom>
        </p:spPr>
      </p:pic>
      <p:sp>
        <p:nvSpPr>
          <p:cNvPr id="6" name="Teksta vietturis 15">
            <a:extLst>
              <a:ext uri="{FF2B5EF4-FFF2-40B4-BE49-F238E27FC236}">
                <a16:creationId xmlns:a16="http://schemas.microsoft.com/office/drawing/2014/main" id="{3EAC2F0B-9337-0A4B-F489-92FB898D77C3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Ierīču anotācijas</a:t>
            </a:r>
          </a:p>
        </p:txBody>
      </p:sp>
    </p:spTree>
    <p:extLst>
      <p:ext uri="{BB962C8B-B14F-4D97-AF65-F5344CB8AC3E}">
        <p14:creationId xmlns:p14="http://schemas.microsoft.com/office/powerpoint/2010/main" val="41179765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42F0-D368-6CC8-9A76-7E9B20FA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7B8655-7050-54D1-AC90-376EF048E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Sākuma aina</a:t>
            </a:r>
          </a:p>
        </p:txBody>
      </p:sp>
      <p:pic>
        <p:nvPicPr>
          <p:cNvPr id="6" name="Attēls 5">
            <a:extLst>
              <a:ext uri="{FF2B5EF4-FFF2-40B4-BE49-F238E27FC236}">
                <a16:creationId xmlns:a16="http://schemas.microsoft.com/office/drawing/2014/main" id="{7E19D00C-2F20-3EF9-7490-2563BA7F7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70" y="0"/>
            <a:ext cx="6709860" cy="6858000"/>
          </a:xfrm>
          <a:prstGeom prst="rect">
            <a:avLst/>
          </a:prstGeom>
        </p:spPr>
      </p:pic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081B1E93-BDAB-86AD-8B86-C987E5A07514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Iestatījumu logs</a:t>
            </a:r>
          </a:p>
        </p:txBody>
      </p:sp>
    </p:spTree>
    <p:extLst>
      <p:ext uri="{BB962C8B-B14F-4D97-AF65-F5344CB8AC3E}">
        <p14:creationId xmlns:p14="http://schemas.microsoft.com/office/powerpoint/2010/main" val="39899848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1B820-A59F-503B-C14F-8B2CB23C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3D76A3B0-B3F8-1208-3353-6BA9BBF39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Sākuma aina</a:t>
            </a:r>
          </a:p>
        </p:txBody>
      </p:sp>
      <p:pic>
        <p:nvPicPr>
          <p:cNvPr id="6" name="Attēls 5">
            <a:extLst>
              <a:ext uri="{FF2B5EF4-FFF2-40B4-BE49-F238E27FC236}">
                <a16:creationId xmlns:a16="http://schemas.microsoft.com/office/drawing/2014/main" id="{592651C6-5F53-16E9-FB32-63FB01003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852" y="0"/>
            <a:ext cx="6709860" cy="6858000"/>
          </a:xfrm>
          <a:prstGeom prst="rect">
            <a:avLst/>
          </a:prstGeom>
        </p:spPr>
      </p:pic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20982153-8642-6652-6134-965F865F211A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Anotācija</a:t>
            </a:r>
          </a:p>
        </p:txBody>
      </p:sp>
    </p:spTree>
    <p:extLst>
      <p:ext uri="{BB962C8B-B14F-4D97-AF65-F5344CB8AC3E}">
        <p14:creationId xmlns:p14="http://schemas.microsoft.com/office/powerpoint/2010/main" val="20004482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FF4E0-D2FC-1A1C-EC43-0AE75520B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1841233A-D097-A297-C3EC-CA7E13CF1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Sākuma aina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A44C5005-1E13-95C1-CCEF-59EE2E74B16F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Izejas dialogs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A990602B-7236-E340-C0BB-404F1257F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225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744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CA875-4B4A-FFB8-D59C-253806E90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06C6FDA6-A975-4169-2F7F-4E08370D7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Līmeņu atlase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AF618116-A200-1D20-2F89-AFFEE4EA961D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Atlases aina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FF8535F0-E1FB-E55A-B644-927F6CE81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104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200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768DD-17FA-5054-3445-799A51A68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9DFDE5D-EFAE-C140-F4B5-199B8AF0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Līmeņu atlase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249D0FA5-D1BA-96C7-BCF4-3A89103FF5C4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Pieejamā līmeņa informācija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42119739-2AFD-AE3C-A4B9-06382F642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598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299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CB434-9254-34CE-D83B-25DE4116A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5F2413E-72AF-1C28-5BF5-99F6168D8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Līmeņu atlase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2E441715-BA5B-1950-F907-9A73F21212F0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Aizslēgtā līmeņa informācija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E4A00BD9-7809-472B-D3E7-ECE580C80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224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571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0B8F3-FCB8-8904-C52E-93D5F768F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4E156738-6C8B-AF77-2182-32F730FEC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7FD74B6B-ABD6-CC73-D2E4-904C98A7C600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Sākuma stadija pēc līmeņa atvēršanas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14520E99-3EB8-90D6-C883-4A184EBE6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104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873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A748-BAF3-FF46-A235-79EDB7A2F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9A9147F3-2052-D70A-12DD-A9F8294B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E1BD7DE2-FE5D-470D-BD87-317F74EE1356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Pēc vilkšanas skats – atzīmētie mērķi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310047FB-CB3B-9602-1154-865162DDC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357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989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CDEA-AE6A-561D-D71A-B2BC88AC4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FDE24F80-3D43-0B70-D5A1-95B518EC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EDBDBDB0-38C6-727C-A1E8-FA2BFDE76CD9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Spēlētāja ierīces ievietošana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65C6AB90-527B-473D-8FBB-57DEC5237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587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082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D6C6-0F15-28DF-0BE7-52BE7C5B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D3FD5F20-CC80-06AC-B003-B7ECF079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B31702F5-3ADA-426A-D25C-DE5FFC351389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Ierīču koriģēšanas stadija – aktivizēta mērīšanas rīks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2400453F-7D22-D593-95B4-BAD2DD55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489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861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E9E1-F020-CB8B-CFC0-E2583FED9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80E1B584-F9D6-7627-DDA7-61BE68F31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BFA7A555-D434-8279-150D-9E14C3BF2A91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Mērījuma rīks – atzīmēts distances mērījums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8ED706B9-344A-E22C-1682-CD6DA1C53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236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898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988-EF37-B00F-ADD2-75183D30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58B037D-E60B-3486-168E-1BE52AD3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6A61ABBD-860E-FDCC-F163-B608CE51EE13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Ierīču koriģēšana – atlasīta spēlētāja ierīce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BBD8FD00-11DE-269C-D468-4A2E18B69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587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1973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C24A-1569-7445-1EC2-9BC47CE6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7E7E274C-64A4-5306-F842-3B7B64F1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9329250C-62DC-D4C8-B9CD-BD7DDB0E0A72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Atlasītās ierīces koriģēšana ar mērījumu rīku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734F1283-E4F6-374D-D045-4AF218739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97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710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C3C4-DFB4-C86E-20BD-9616F8D0E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DB3203D-4132-9C06-9A1F-1D803307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DCA411D3-6942-7C5C-F08B-A16107ACBC5E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Uguņošanas stadija – spēlētāja ierīces uguņošanas sekojumu logs un trāpītie lādiņi laukumā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1FD8DCBE-8CC6-CEF3-63C1-8CDDCE92F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081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0236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2B3A7-7962-457F-960E-4BED53949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3F4AB1A-3EB2-438D-E4B9-BFA8A4EA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3DB00045-3876-4E2C-BA02-641A4E2C8D98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Uguņošanas stadija – Paslēpta uguņošanas sekojumu logs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EDD6F7B5-CBE9-7ED0-736F-E4A6E2B02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455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589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C413-87E1-B84A-A043-0D70D40B4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D48EA2F5-DF18-C699-AC97-DA367553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14D0075D-025C-65CC-73A3-08A336D6CB3E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Koriģēšanas stadija – pēc uguņošanas iznīcinātie mērķi (vēl viens mērķis citā laukuma vietā)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634E425D-BB8C-1BA7-39B6-CA4552476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455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451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BAC7B-B956-591C-EE19-249101337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EB5B7F87-F067-BF9C-FB15-12DBAC51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EB350DC5-AC20-A840-6F86-F7BC6D1D84B7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Rezultātu stadija – uzvara pēc visu mērķu iznīcināšanu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A2959F44-8596-C0DE-BCCF-C69BB25D6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202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70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FA2F-1EFB-D88F-617E-9023239DD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B9FB7C5-CC90-4B37-BCDA-D6D4702AE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55F50E4E-2B40-462F-C417-DC8D50AD6AF0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3. līmenī atrodas aizsegti laukumi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97C32BDA-2CFD-6126-E7CC-FE20DA99F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587" y="60385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5813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59A6-093D-C083-0631-90595C387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BDF3B7EA-ECB7-21F3-E94F-48C9F21D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5C3DD07A-6532-DDA3-FA4B-D378896294C9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Izlūku izsaukšanas piedāvājums pēc nejaušības (1/6 iespēja </a:t>
            </a:r>
            <a:r>
              <a:rPr lang="lv-LV" sz="2800" dirty="0" err="1"/>
              <a:t>aizseguma</a:t>
            </a:r>
            <a:r>
              <a:rPr lang="lv-LV" sz="2800" dirty="0"/>
              <a:t> noņemšana netiek veikta)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CF28FEF3-9CD1-289F-388C-AC3591CAE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961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769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4B6D-649F-C9F2-8FC4-64968B6E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130E3A23-5713-F627-074D-5995FC4B4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51564D8B-3759-6050-6004-9172C88D4F1A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 err="1"/>
              <a:t>Aizseguma</a:t>
            </a:r>
            <a:r>
              <a:rPr lang="lv-LV" sz="2800" dirty="0"/>
              <a:t> noņemšanas rezultāts – mērķi parādīti, taču uguns pret spēlētāju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6711FBBD-C177-7C75-E27A-0CCFD1D31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334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258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34AB3-8EE9-BB21-7139-3BC696A9D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4CBF28C-94C9-F19B-C34A-A11210C2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23439E47-AE2D-14ED-5130-3BA293697979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Zaudēta spēle – visas spēlētāja ierīces tika iznīcinātas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75812010-23A3-CD4D-D31E-34EE3AA6B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493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759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2CE91-88E1-B476-57CD-CB11F282F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AD462EDF-9AF7-FEA1-D172-7BE5DB70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D8EA441F-5649-1B47-8F20-052424204D9C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Pauzes izvēlne</a:t>
            </a:r>
          </a:p>
        </p:txBody>
      </p:sp>
      <p:pic>
        <p:nvPicPr>
          <p:cNvPr id="5" name="Attēls 4">
            <a:extLst>
              <a:ext uri="{FF2B5EF4-FFF2-40B4-BE49-F238E27FC236}">
                <a16:creationId xmlns:a16="http://schemas.microsoft.com/office/drawing/2014/main" id="{FC044AA0-27C1-33A7-BF9E-E48FB1185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840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973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D6F9B-4024-27C7-5177-DDC434C5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rsraksts 1">
            <a:extLst>
              <a:ext uri="{FF2B5EF4-FFF2-40B4-BE49-F238E27FC236}">
                <a16:creationId xmlns:a16="http://schemas.microsoft.com/office/drawing/2014/main" id="{0A182AFA-EBE6-23EA-1A9D-98D8133E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/>
              <a:t>Ainas – Spēles laukums</a:t>
            </a:r>
          </a:p>
        </p:txBody>
      </p:sp>
      <p:sp>
        <p:nvSpPr>
          <p:cNvPr id="7" name="Teksta vietturis 15">
            <a:extLst>
              <a:ext uri="{FF2B5EF4-FFF2-40B4-BE49-F238E27FC236}">
                <a16:creationId xmlns:a16="http://schemas.microsoft.com/office/drawing/2014/main" id="{CF0F1B49-96E6-BE98-25A6-4D369DFA3A1C}"/>
              </a:ext>
            </a:extLst>
          </p:cNvPr>
          <p:cNvSpPr txBox="1">
            <a:spLocks/>
          </p:cNvSpPr>
          <p:nvPr/>
        </p:nvSpPr>
        <p:spPr>
          <a:xfrm>
            <a:off x="838199" y="3871737"/>
            <a:ext cx="3716548" cy="8447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lv-LV" sz="2800" dirty="0"/>
              <a:t>Pauzes izvēlnes iestatījumi</a:t>
            </a:r>
          </a:p>
        </p:txBody>
      </p:sp>
      <p:pic>
        <p:nvPicPr>
          <p:cNvPr id="4" name="Attēls 3">
            <a:extLst>
              <a:ext uri="{FF2B5EF4-FFF2-40B4-BE49-F238E27FC236}">
                <a16:creationId xmlns:a16="http://schemas.microsoft.com/office/drawing/2014/main" id="{D94AF844-55BB-18E1-BA39-19C3D4BE7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961" y="0"/>
            <a:ext cx="6709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46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dizains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6286_TF03460514_Win32" id="{477CC41E-76C1-4457-8534-FF93B790C5F8}" vid="{93DC670D-0A07-4985-9137-B3C54525D606}"/>
    </a:ext>
  </a:extLst>
</a:theme>
</file>

<file path=ppt/theme/theme2.xml><?xml version="1.0" encoding="utf-8"?>
<a:theme xmlns:a="http://schemas.openxmlformats.org/drawingml/2006/main" name="Office dizai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dizai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7ACD96E-49A0-4DA4-A7BB-AC2D887421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Darbinieku orientācijas prezentācija</Template>
  <TotalTime>1870</TotalTime>
  <Words>1631</Words>
  <Application>Microsoft Office PowerPoint</Application>
  <PresentationFormat>Platekrāna</PresentationFormat>
  <Paragraphs>360</Paragraphs>
  <Slides>75</Slides>
  <Notes>8</Notes>
  <HiddenSlides>0</HiddenSlides>
  <MMClips>0</MMClips>
  <ScaleCrop>false</ScaleCrop>
  <HeadingPairs>
    <vt:vector size="6" baseType="variant">
      <vt:variant>
        <vt:lpstr>Lietotie fonti</vt:lpstr>
      </vt:variant>
      <vt:variant>
        <vt:i4>3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75</vt:i4>
      </vt:variant>
    </vt:vector>
  </HeadingPairs>
  <TitlesOfParts>
    <vt:vector size="79" baseType="lpstr">
      <vt:lpstr>Arial</vt:lpstr>
      <vt:lpstr>Calibri</vt:lpstr>
      <vt:lpstr>Times New Roman</vt:lpstr>
      <vt:lpstr>Office dizains</vt:lpstr>
      <vt:lpstr>2D datorspēle «Drumstalotājs»</vt:lpstr>
      <vt:lpstr>Ievads</vt:lpstr>
      <vt:lpstr>«Design Bureau Logika» Mīnmetēja simulators</vt:lpstr>
      <vt:lpstr>Mērķis</vt:lpstr>
      <vt:lpstr>Vispārīgās prasības</vt:lpstr>
      <vt:lpstr>Vispārīgās prasības</vt:lpstr>
      <vt:lpstr>Vispārīgās prasības</vt:lpstr>
      <vt:lpstr>Vispārīgās prasības</vt:lpstr>
      <vt:lpstr>Lietotāja rakstura iezīmes</vt:lpstr>
      <vt:lpstr>Izstrādes soļi</vt:lpstr>
      <vt:lpstr>Izstrādes rīki un valodas</vt:lpstr>
      <vt:lpstr>Versiju kontrole</vt:lpstr>
      <vt:lpstr>Iespējamās alternatīvas – Valoda</vt:lpstr>
      <vt:lpstr>Iespējamās alternatīvas – Dzinis</vt:lpstr>
      <vt:lpstr>Modeļi – Sistēmas pārvaldnieks</vt:lpstr>
      <vt:lpstr>Modeļi – Sistēmas pārvaldnieks</vt:lpstr>
      <vt:lpstr>Modeļi – Sistēmas pārvaldnieks</vt:lpstr>
      <vt:lpstr>Modeļi – Ainas</vt:lpstr>
      <vt:lpstr>Modeļi – Ainas</vt:lpstr>
      <vt:lpstr>Modeļi – Ainas</vt:lpstr>
      <vt:lpstr>Modeļi – Ainas</vt:lpstr>
      <vt:lpstr>Modeļi – Karte</vt:lpstr>
      <vt:lpstr>Modeļi – Karte</vt:lpstr>
      <vt:lpstr>Modeļi – Karte</vt:lpstr>
      <vt:lpstr>Modeļi – Kartes objekti</vt:lpstr>
      <vt:lpstr>Modeļi – Kartes objektu īpašības</vt:lpstr>
      <vt:lpstr>Modeļi – Lādiņš</vt:lpstr>
      <vt:lpstr>Modeļi – Kartes resurss</vt:lpstr>
      <vt:lpstr>Modeļi – Spēles laukuma ainas stadijas</vt:lpstr>
      <vt:lpstr>Modeļi – Līmeņu atlases klases</vt:lpstr>
      <vt:lpstr>Kodu priekšskatījumi</vt:lpstr>
      <vt:lpstr>Kodu priekšskatījumi</vt:lpstr>
      <vt:lpstr>Kods – Ierīces īpašības</vt:lpstr>
      <vt:lpstr>Kods – Lādiņa ballistika</vt:lpstr>
      <vt:lpstr>Kods – Lādiņa ballistika</vt:lpstr>
      <vt:lpstr>Kods – Uguņošanas stadija</vt:lpstr>
      <vt:lpstr>Kods – Uguņošanas stadija</vt:lpstr>
      <vt:lpstr>Kods – Uguņošanas stadija</vt:lpstr>
      <vt:lpstr>Kods – Uguņošanas stadija</vt:lpstr>
      <vt:lpstr>Kods – Kartes komponente</vt:lpstr>
      <vt:lpstr>Kods – Kartes komponente</vt:lpstr>
      <vt:lpstr>Kods – Kartes komponente</vt:lpstr>
      <vt:lpstr>Kods – Kartes komponente</vt:lpstr>
      <vt:lpstr>Kods – Kartes komponente</vt:lpstr>
      <vt:lpstr>Testēšana</vt:lpstr>
      <vt:lpstr>Testēšana - Identifikatori</vt:lpstr>
      <vt:lpstr>Testēšana – Testpiemēru fragments</vt:lpstr>
      <vt:lpstr>Testēšana – Žurnāla fragments</vt:lpstr>
      <vt:lpstr>Secinājumi</vt:lpstr>
      <vt:lpstr>Ainas priekšskatījumi</vt:lpstr>
      <vt:lpstr>Ainas – Sākuma aina</vt:lpstr>
      <vt:lpstr>Ainas – Sākuma aina</vt:lpstr>
      <vt:lpstr>Ainas – Sākuma aina</vt:lpstr>
      <vt:lpstr>Ainas – Sākuma aina</vt:lpstr>
      <vt:lpstr>Ainas – Sākuma aina</vt:lpstr>
      <vt:lpstr>Ainas – Līmeņu atlase</vt:lpstr>
      <vt:lpstr>Ainas – Līmeņu atlase</vt:lpstr>
      <vt:lpstr>Ainas – Līmeņu atlase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  <vt:lpstr>Ainas – Spēles laukums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hval</dc:creator>
  <cp:lastModifiedBy>hval</cp:lastModifiedBy>
  <cp:revision>318</cp:revision>
  <dcterms:created xsi:type="dcterms:W3CDTF">2026-06-09T16:32:45Z</dcterms:created>
  <dcterms:modified xsi:type="dcterms:W3CDTF">2026-06-14T21:04:17Z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