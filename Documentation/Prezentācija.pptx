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80"/>
  </p:notesMasterIdLst>
  <p:handoutMasterIdLst>
    <p:handoutMasterId r:id="rId81"/>
  </p:handoutMasterIdLst>
  <p:sldIdLst>
    <p:sldId id="256" r:id="rId5"/>
    <p:sldId id="285" r:id="rId6"/>
    <p:sldId id="257" r:id="rId7"/>
    <p:sldId id="286" r:id="rId8"/>
    <p:sldId id="287" r:id="rId9"/>
    <p:sldId id="316" r:id="rId10"/>
    <p:sldId id="318" r:id="rId11"/>
    <p:sldId id="317" r:id="rId12"/>
    <p:sldId id="288" r:id="rId13"/>
    <p:sldId id="258" r:id="rId14"/>
    <p:sldId id="292" r:id="rId15"/>
    <p:sldId id="294" r:id="rId16"/>
    <p:sldId id="289" r:id="rId17"/>
    <p:sldId id="293" r:id="rId18"/>
    <p:sldId id="296" r:id="rId19"/>
    <p:sldId id="321" r:id="rId20"/>
    <p:sldId id="323" r:id="rId21"/>
    <p:sldId id="297" r:id="rId22"/>
    <p:sldId id="322" r:id="rId23"/>
    <p:sldId id="324" r:id="rId24"/>
    <p:sldId id="325" r:id="rId25"/>
    <p:sldId id="298" r:id="rId26"/>
    <p:sldId id="326" r:id="rId27"/>
    <p:sldId id="327" r:id="rId28"/>
    <p:sldId id="328" r:id="rId29"/>
    <p:sldId id="299" r:id="rId30"/>
    <p:sldId id="329" r:id="rId31"/>
    <p:sldId id="332" r:id="rId32"/>
    <p:sldId id="330" r:id="rId33"/>
    <p:sldId id="334" r:id="rId34"/>
    <p:sldId id="333" r:id="rId35"/>
    <p:sldId id="331" r:id="rId36"/>
    <p:sldId id="335" r:id="rId37"/>
    <p:sldId id="336" r:id="rId38"/>
    <p:sldId id="259" r:id="rId39"/>
    <p:sldId id="310" r:id="rId40"/>
    <p:sldId id="305" r:id="rId41"/>
    <p:sldId id="308" r:id="rId42"/>
    <p:sldId id="309" r:id="rId43"/>
    <p:sldId id="319" r:id="rId44"/>
    <p:sldId id="320" r:id="rId45"/>
    <p:sldId id="306" r:id="rId46"/>
    <p:sldId id="307" r:id="rId47"/>
    <p:sldId id="311" r:id="rId48"/>
    <p:sldId id="314" r:id="rId49"/>
    <p:sldId id="315" r:id="rId50"/>
    <p:sldId id="312" r:id="rId51"/>
    <p:sldId id="313" r:id="rId52"/>
    <p:sldId id="303" r:id="rId53"/>
    <p:sldId id="302" r:id="rId54"/>
    <p:sldId id="304" r:id="rId55"/>
    <p:sldId id="261" r:id="rId56"/>
    <p:sldId id="262" r:id="rId57"/>
    <p:sldId id="263" r:id="rId58"/>
    <p:sldId id="264" r:id="rId59"/>
    <p:sldId id="265" r:id="rId60"/>
    <p:sldId id="266" r:id="rId61"/>
    <p:sldId id="267" r:id="rId62"/>
    <p:sldId id="268" r:id="rId63"/>
    <p:sldId id="269" r:id="rId64"/>
    <p:sldId id="270" r:id="rId65"/>
    <p:sldId id="271" r:id="rId66"/>
    <p:sldId id="272" r:id="rId67"/>
    <p:sldId id="273" r:id="rId68"/>
    <p:sldId id="274" r:id="rId69"/>
    <p:sldId id="275" r:id="rId70"/>
    <p:sldId id="276" r:id="rId71"/>
    <p:sldId id="277" r:id="rId72"/>
    <p:sldId id="278" r:id="rId73"/>
    <p:sldId id="279" r:id="rId74"/>
    <p:sldId id="280" r:id="rId75"/>
    <p:sldId id="281" r:id="rId76"/>
    <p:sldId id="282" r:id="rId77"/>
    <p:sldId id="283" r:id="rId78"/>
    <p:sldId id="284" r:id="rId79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viewProps" Target="viewProp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notesMaster" Target="notesMasters/notesMaster1.xml"/><Relationship Id="rId85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handoutMaster" Target="handoutMasters/handoutMaster1.xml"/><Relationship Id="rId86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microsoft.com/office/2018/10/relationships/authors" Target="authors.xml"/><Relationship Id="rId61" Type="http://schemas.openxmlformats.org/officeDocument/2006/relationships/slide" Target="slides/slide57.xml"/><Relationship Id="rId8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13.06.2026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13.06.2026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4791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3B82A-0BF7-7106-26FE-C2E105B2B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EAF05F0-922E-D656-B278-A32142B19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0F58FC38-1704-40AD-437D-1BB8B108F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4DB34094-A0E0-C332-3015-74C43A7AB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14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930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67FD-2D90-C703-C103-23ABF77B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84FD1BC7-DE19-3FF7-24CB-430DE0DD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41B953C-080C-D504-3E9C-87A56AF26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8993DA4-A442-5263-81E2-1A36761E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15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981319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86A3-5661-4255-96C6-767CB479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1A9AE39-EECD-6DCA-41E2-6E807B1A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8058173B-125B-B7E9-F2DA-F459538F6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5A42E67D-2BF7-C0EB-5892-CAB5703EB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18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166721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CACDF-7F7C-442E-9DFB-E489066CA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E4260F9B-C754-D99B-6E83-A99835A78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753999A0-7659-6688-8B72-C46F3F2B4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FF6169D-CB3B-92FB-9755-75614CA10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22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805614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99C26-AA1A-832F-B612-31260BFFD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3D1165B-62A5-F41D-09F1-30A6D823B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C055D6-B6FC-537C-482A-931AC3A1A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715DF975-3125-514B-E1F4-9E7865E9A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26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0279262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30C9F-85B0-2B22-7046-ECDE1BFD3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19BBD03C-5513-7386-E3ED-6F1953B3D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CC95D860-C958-2086-7D1E-1C916CBF9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EC25517-EC77-677D-90BC-CDDA9E2506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29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4661623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DB284-1D79-143E-59C5-F732760F8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EC39546-77DD-7915-FFF6-1AD4D586B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B0A822CC-331B-3F9E-CB5F-4AA7A8E601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7EB2C04D-FC2D-DB64-E7F9-881ECC8AD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31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8570146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2A9C-E682-EB43-2618-CA07E2C43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7D9A87DB-EB3B-286D-FB03-50D0FAC70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95FD26DB-D9FA-0903-9363-1C5990923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3657B54F-439B-2414-3DCC-B6B6CB093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33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787792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0C2A1-7494-F784-C629-E9C9BF2D4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785221C-AD45-087E-2A4A-B0F4E6EBF0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7F3A9CCF-5485-B195-5A67-86DA57BCD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3E6396BE-8EE3-4EC0-3018-806591516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34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876814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3333919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3333919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97" y="365125"/>
            <a:ext cx="2718587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01447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047913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02197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042713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4669109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8515200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4669109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8510187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07497" y="4112198"/>
            <a:ext cx="2718587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201447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47913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202197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42713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7498" y="5511642"/>
            <a:ext cx="2718587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773709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8" r:id="rId10"/>
    <p:sldLayoutId id="2147483670" r:id="rId11"/>
    <p:sldLayoutId id="2147483667" r:id="rId12"/>
    <p:sldLayoutId id="2147483673" r:id="rId13"/>
    <p:sldLayoutId id="2147483651" r:id="rId14"/>
    <p:sldLayoutId id="2147483672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9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9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9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9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9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9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9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9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9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5312-2023-6645-4749-0DFEE81EC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AFDE6E-E812-A7DF-7143-C691508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579F1E7A-6F3A-4F93-08FA-007580F9101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</p:txBody>
      </p:sp>
    </p:spTree>
    <p:extLst>
      <p:ext uri="{BB962C8B-B14F-4D97-AF65-F5344CB8AC3E}">
        <p14:creationId xmlns:p14="http://schemas.microsoft.com/office/powerpoint/2010/main" val="42376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442423" cy="2621139"/>
          </a:xfrm>
        </p:spPr>
        <p:txBody>
          <a:bodyPr>
            <a:normAutofit/>
          </a:bodyPr>
          <a:lstStyle/>
          <a:p>
            <a:r>
              <a:rPr lang="lv-LV" sz="3200" dirty="0"/>
              <a:t>«</a:t>
            </a:r>
            <a:r>
              <a:rPr lang="lv-LV" sz="3200" dirty="0" err="1"/>
              <a:t>Design</a:t>
            </a:r>
            <a:r>
              <a:rPr lang="lv-LV" sz="3200" dirty="0"/>
              <a:t> </a:t>
            </a:r>
            <a:r>
              <a:rPr lang="lv-LV" sz="3200" dirty="0" err="1"/>
              <a:t>Bureau</a:t>
            </a:r>
            <a:r>
              <a:rPr lang="lv-LV" sz="3200" dirty="0"/>
              <a:t> </a:t>
            </a:r>
            <a:r>
              <a:rPr lang="lv-LV" sz="3200" dirty="0" err="1"/>
              <a:t>Logika</a:t>
            </a:r>
            <a:r>
              <a:rPr lang="lv-LV" sz="3200" dirty="0"/>
              <a:t>»</a:t>
            </a:r>
            <a:br>
              <a:rPr lang="lv-LV" sz="3200" dirty="0"/>
            </a:br>
            <a:r>
              <a:rPr lang="lv-LV" sz="3200" dirty="0"/>
              <a:t>Mīnmetēja </a:t>
            </a:r>
            <a:r>
              <a:rPr lang="lv-LV" sz="3200" dirty="0" err="1"/>
              <a:t>simulators</a:t>
            </a:r>
            <a:endParaRPr lang="lv-LV" sz="3200" dirty="0"/>
          </a:p>
        </p:txBody>
      </p:sp>
      <p:sp>
        <p:nvSpPr>
          <p:cNvPr id="3" name="Teksta vietturis 15">
            <a:extLst>
              <a:ext uri="{FF2B5EF4-FFF2-40B4-BE49-F238E27FC236}">
                <a16:creationId xmlns:a16="http://schemas.microsoft.com/office/drawing/2014/main" id="{EFE1CCEA-913B-EF3F-3B39-89836E9BF7BE}"/>
              </a:ext>
            </a:extLst>
          </p:cNvPr>
          <p:cNvSpPr txBox="1">
            <a:spLocks/>
          </p:cNvSpPr>
          <p:nvPr/>
        </p:nvSpPr>
        <p:spPr>
          <a:xfrm>
            <a:off x="276226" y="3871737"/>
            <a:ext cx="4278521" cy="17785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Daudz iestatāmo mainīgo;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Iekļauta apmācības iekārta;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Licencēšana tikai valsts iestādēm.</a:t>
            </a:r>
          </a:p>
        </p:txBody>
      </p:sp>
      <p:pic>
        <p:nvPicPr>
          <p:cNvPr id="12" name="Attēls 11">
            <a:extLst>
              <a:ext uri="{FF2B5EF4-FFF2-40B4-BE49-F238E27FC236}">
                <a16:creationId xmlns:a16="http://schemas.microsoft.com/office/drawing/2014/main" id="{57416947-3BD4-ADE9-690D-06E7FB14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618"/>
          <a:stretch>
            <a:fillRect/>
          </a:stretch>
        </p:blipFill>
        <p:spPr>
          <a:xfrm>
            <a:off x="5020902" y="3176670"/>
            <a:ext cx="4408553" cy="3168697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996D18A3-923E-FCC5-1DBE-CFD60D05EB7E}"/>
              </a:ext>
            </a:extLst>
          </p:cNvPr>
          <p:cNvSpPr txBox="1">
            <a:spLocks/>
          </p:cNvSpPr>
          <p:nvPr/>
        </p:nvSpPr>
        <p:spPr>
          <a:xfrm>
            <a:off x="451449" y="5865962"/>
            <a:ext cx="4103298" cy="626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i="1" dirty="0"/>
              <a:t>https://logika.ua/simulators/trenazher-dlya-pidgotovky-obslugy-minometiv/</a:t>
            </a:r>
          </a:p>
        </p:txBody>
      </p:sp>
      <p:pic>
        <p:nvPicPr>
          <p:cNvPr id="15" name="Attēls 14">
            <a:extLst>
              <a:ext uri="{FF2B5EF4-FFF2-40B4-BE49-F238E27FC236}">
                <a16:creationId xmlns:a16="http://schemas.microsoft.com/office/drawing/2014/main" id="{4E474D19-0E04-13B9-0BD8-DDB4DDF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773" y="1526876"/>
            <a:ext cx="2688925" cy="3644570"/>
          </a:xfrm>
          <a:prstGeom prst="rect">
            <a:avLst/>
          </a:prstGeom>
        </p:spPr>
      </p:pic>
      <p:pic>
        <p:nvPicPr>
          <p:cNvPr id="17" name="Attēls 16">
            <a:extLst>
              <a:ext uri="{FF2B5EF4-FFF2-40B4-BE49-F238E27FC236}">
                <a16:creationId xmlns:a16="http://schemas.microsoft.com/office/drawing/2014/main" id="{525BBFE6-B510-4855-407F-BDE8D836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83" y="241360"/>
            <a:ext cx="4912817" cy="274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9C123-5B6F-01E6-9DBD-81C8FB1DD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3BA32B4-4E4B-48E8-E7A1-817C93CE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Mērķis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B3E4551-48A0-F750-7EDC-83984F2CDAB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šo ideju ar līmeņu kopu,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11834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BA3C7-64C9-647A-EF47-943B9665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48052BA-E1F8-94BA-97A8-9CD429E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E61618-EA4A-FF6C-27AD-1ECFFFC211A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 lnSpcReduction="10000"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Galvenā izvēlne: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Ierīču anotācijas;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Projekta anotācija;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līmeņu atlases ainu.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Līmeņu atlase: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 ar līmeņu punktiem;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indikatori (slēgts, pieejams);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informācija;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spēles laukuma ainu.</a:t>
            </a:r>
          </a:p>
        </p:txBody>
      </p:sp>
    </p:spTree>
    <p:extLst>
      <p:ext uri="{BB962C8B-B14F-4D97-AF65-F5344CB8AC3E}">
        <p14:creationId xmlns:p14="http://schemas.microsoft.com/office/powerpoint/2010/main" val="796520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8BFA-0E00-F4BA-34CF-242E2FD98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2CE4CBE-B0AF-B871-E93E-9207146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DEB53C3-9106-0B90-DF39-17B6B80ECED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Kartes komponente: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Zemes, objektu un dekorāciju slānis;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Kamera;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Kartes datu ielādēšana un glabāšana.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Informācijas vākšana: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Atlikušais laiks;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Iznīcināmie mērķi.</a:t>
            </a:r>
            <a:endParaRPr lang="lv-LV" sz="28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01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BA1C7-8DE1-11D2-6C36-CB20E05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189D117-81C3-CB32-F4DE-F67D3051E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852FD5A-17B1-E6A9-F5B5-9B9A43422BE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600" dirty="0">
                <a:solidFill>
                  <a:schemeClr val="bg1"/>
                </a:solidFill>
              </a:rPr>
              <a:t>Kartes objekti: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Ierīces un tās lādiņi;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Regulējams traverss, augstums un šaušanas reizes;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Ierīču izšaušana;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Lādiņa ballistika un detonācija daļēji ataino fizikas likumus.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Mūri;</a:t>
            </a:r>
          </a:p>
        </p:txBody>
      </p:sp>
    </p:spTree>
    <p:extLst>
      <p:ext uri="{BB962C8B-B14F-4D97-AF65-F5344CB8AC3E}">
        <p14:creationId xmlns:p14="http://schemas.microsoft.com/office/powerpoint/2010/main" val="2453731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BA983-0DF5-BB42-9353-EF1F33A4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D1691C1-DCD7-0E2D-475F-A4FC7CB9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ED4EC0E-1824-216C-D519-72490E661C9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Regulējami iestatījumi: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Skaļum</a:t>
            </a:r>
            <a:r>
              <a:rPr lang="lv-LV" sz="2800" dirty="0">
                <a:solidFill>
                  <a:schemeClr val="bg1"/>
                </a:solidFill>
              </a:rPr>
              <a:t>u iestatījumi;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Logu izmēra iestatījumi.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Progresa saglabāšana;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2D vide;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Viegli pārskatāma lietotāja </a:t>
            </a:r>
            <a:r>
              <a:rPr lang="lv-LV" sz="2800" dirty="0" err="1">
                <a:solidFill>
                  <a:schemeClr val="bg1"/>
                </a:solidFill>
              </a:rPr>
              <a:t>saskarne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Palaižama zemas veiktspējas datorsistēmās.</a:t>
            </a:r>
          </a:p>
        </p:txBody>
      </p:sp>
    </p:spTree>
    <p:extLst>
      <p:ext uri="{BB962C8B-B14F-4D97-AF65-F5344CB8AC3E}">
        <p14:creationId xmlns:p14="http://schemas.microsoft.com/office/powerpoint/2010/main" val="4232601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94B1-B60A-FE50-5142-79E72D68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785D54E-E91A-80FE-932D-B391C7E56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7" y="365125"/>
            <a:ext cx="4157750" cy="2621139"/>
          </a:xfrm>
        </p:spPr>
        <p:txBody>
          <a:bodyPr/>
          <a:lstStyle/>
          <a:p>
            <a:r>
              <a:rPr lang="lv-LV" dirty="0"/>
              <a:t>Lietotāja rakstura iezīmes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72CE06-F053-0BD5-3869-A95B66D9BEC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Izklaide: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Vienkāršas spēles noteikumi;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Fantastisks sižets.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Izglītība: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Mehānikas fizika;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Ballistika;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(Vienkāršotas) topogrāfija.</a:t>
            </a:r>
          </a:p>
        </p:txBody>
      </p:sp>
    </p:spTree>
    <p:extLst>
      <p:ext uri="{BB962C8B-B14F-4D97-AF65-F5344CB8AC3E}">
        <p14:creationId xmlns:p14="http://schemas.microsoft.com/office/powerpoint/2010/main" val="412239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4D81-3A2A-DE00-D768-23A74899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1A9D0B-2373-1796-3CB1-ACC6FCBD9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rīki un valodas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DD05C5F-A457-E532-14D1-05D5758E4AE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C#: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Sistēmas programmēšanas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atbalstītā valoda.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Godot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Piemērota neliela apjoma projektiem;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Optimizēta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Ātri apgūstama.</a:t>
            </a:r>
          </a:p>
          <a:p>
            <a:pPr marL="1143000" lvl="1" indent="-457200"/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AB32834-7DBC-8EDA-31A8-328422B8856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84672" y="3650591"/>
            <a:ext cx="3072441" cy="3072441"/>
          </a:xfrm>
          <a:prstGeom prst="rect">
            <a:avLst/>
          </a:prstGeom>
        </p:spPr>
      </p:pic>
      <p:pic>
        <p:nvPicPr>
          <p:cNvPr id="8" name="Attēls 7">
            <a:extLst>
              <a:ext uri="{FF2B5EF4-FFF2-40B4-BE49-F238E27FC236}">
                <a16:creationId xmlns:a16="http://schemas.microsoft.com/office/drawing/2014/main" id="{E86A86FA-2BBD-26AB-A1FC-1E2B5D123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099" y="420771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153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FC24-D8C6-6E98-3C2F-66C9286D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CD569E2-BA91-4A56-13AD-36E3FBD2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Versiju kontrole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8950E04D-0906-03BB-79C2-CF4845C4B0A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Izmantots </a:t>
            </a:r>
            <a:r>
              <a:rPr lang="lv-LV" sz="2800" i="1" dirty="0" err="1"/>
              <a:t>git</a:t>
            </a:r>
            <a:r>
              <a:rPr lang="lv-LV" sz="2800" dirty="0"/>
              <a:t> versiju kontroles rīks;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Repozitorijas</a:t>
            </a:r>
            <a:r>
              <a:rPr lang="lv-LV" sz="2800" dirty="0"/>
              <a:t> mitināšanai izmantos </a:t>
            </a:r>
            <a:r>
              <a:rPr lang="lv-LV" sz="2800" i="1" dirty="0" err="1"/>
              <a:t>GitHub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Lielām izmaiņām, piemēram, </a:t>
            </a:r>
            <a:r>
              <a:rPr lang="lv-LV" sz="2800" dirty="0" err="1"/>
              <a:t>galvenām</a:t>
            </a:r>
            <a:r>
              <a:rPr lang="lv-LV" sz="2800" dirty="0"/>
              <a:t> funkcionalitātēm, tiks veikti sazarojumi un saplūšana;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 tikai projekta </a:t>
            </a:r>
            <a:r>
              <a:rPr lang="lv-LV" sz="2800" dirty="0" err="1"/>
              <a:t>avotkods</a:t>
            </a:r>
            <a:r>
              <a:rPr lang="lv-LV" sz="2800" dirty="0"/>
              <a:t>, arī dokumentācija tiks glabāta repozitorijā.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5E787DED-74DD-06F3-6C0C-DCE05EA7B9B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1286773" y="4123426"/>
            <a:ext cx="2122098" cy="212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826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0429-F4CB-B5A5-9D3B-33D12963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91C2858-0435-6EC8-C5FB-05D21543A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Valoda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BC3671D-F405-E095-6ECA-E48BF390BDA8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GDScript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valoda;</a:t>
            </a:r>
          </a:p>
          <a:p>
            <a:pPr marL="1143000" lvl="1" indent="-457200"/>
            <a:r>
              <a:rPr lang="lv-LV" sz="2800" dirty="0" err="1">
                <a:solidFill>
                  <a:schemeClr val="bg1"/>
                </a:solidFill>
              </a:rPr>
              <a:t>Intepretētā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Nav visas OOP funkcionalitātes.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C++: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Arī </a:t>
            </a:r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atbalstīta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Kompilētā;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Daudz un sarežģītas funkcionalitātes.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EC3CD0F8-B46A-30EF-C6E1-D7C37AD16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85" y="4226944"/>
            <a:ext cx="1740959" cy="1958196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568A92CD-E267-BF43-CC16-DF50D31F3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2387" y="422694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450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5C26-7430-9D26-0A88-FF80433B9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AA58E02-7FA8-8DAF-3652-CC3050FA3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Dzinis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6B387112-8973-EA2C-5F0C-312B9287E9C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Unreal</a:t>
            </a:r>
            <a:r>
              <a:rPr lang="lv-LV" sz="2800" i="1" dirty="0"/>
              <a:t> </a:t>
            </a:r>
            <a:r>
              <a:rPr lang="lv-LV" sz="2800" i="1" dirty="0" err="1"/>
              <a:t>Engine</a:t>
            </a:r>
            <a:r>
              <a:rPr lang="lv-LV" sz="2800" i="1" dirty="0"/>
              <a:t>, </a:t>
            </a:r>
            <a:r>
              <a:rPr lang="lv-LV" sz="2800" i="1" dirty="0" err="1"/>
              <a:t>CryEngine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Pielāgots 3D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Apgūšana sarežģītāka.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Unity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Izmantojama salīdzinoši zemākām veiktspējas datorsistēmām;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Pielāgojama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Vieglāk apgūstama;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Neviens no dziņiem nav brīvprogrammatūras licencēšana.</a:t>
            </a:r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715726C-F55D-B310-3D0A-3BCB34D60421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rcRect t="16297" r="66875" b="17233"/>
          <a:stretch>
            <a:fillRect/>
          </a:stretch>
        </p:blipFill>
        <p:spPr>
          <a:xfrm>
            <a:off x="276226" y="4056678"/>
            <a:ext cx="1815142" cy="2048847"/>
          </a:xfrm>
          <a:prstGeom prst="rect">
            <a:avLst/>
          </a:prstGeom>
        </p:spPr>
      </p:pic>
      <p:pic>
        <p:nvPicPr>
          <p:cNvPr id="6" name="Attēls 5">
            <a:extLst>
              <a:ext uri="{FF2B5EF4-FFF2-40B4-BE49-F238E27FC236}">
                <a16:creationId xmlns:a16="http://schemas.microsoft.com/office/drawing/2014/main" id="{DC5583AF-9261-4D91-D040-FAB770A1CE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074" t="14507" r="33270" b="36691"/>
          <a:stretch>
            <a:fillRect/>
          </a:stretch>
        </p:blipFill>
        <p:spPr>
          <a:xfrm>
            <a:off x="2438400" y="3948370"/>
            <a:ext cx="2135422" cy="206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805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8229-A59E-F697-08B2-161E903E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841F51A-3FFD-6598-59DE-14BE99A6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8501683-182E-8C21-CAB3-80A92CB2E71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Struktūra atrodas visā projekta darbības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Glabā globālos mainīgos un iestatījumus;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Glabā globālās metodes un globālo funkcionalitāšu </a:t>
            </a:r>
            <a:r>
              <a:rPr lang="lv-LV" sz="2800" dirty="0" err="1"/>
              <a:t>logrīkus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Pārvalda ainas, mūzikas atskaņošanu un datu glabāšanu.</a:t>
            </a:r>
          </a:p>
        </p:txBody>
      </p:sp>
    </p:spTree>
    <p:extLst>
      <p:ext uri="{BB962C8B-B14F-4D97-AF65-F5344CB8AC3E}">
        <p14:creationId xmlns:p14="http://schemas.microsoft.com/office/powerpoint/2010/main" val="1019482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13631-8FB1-9BA2-AC94-20768C4F8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2535D00-3845-4361-80A0-C5677F9F1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190337" cy="2621139"/>
          </a:xfrm>
        </p:spPr>
        <p:txBody>
          <a:bodyPr/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E3726118-7C35-F446-F03E-D7A6CD50660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dirty="0"/>
              <a:t>Komponenšu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dirty="0"/>
              <a:t>Datu un iestatījumu </a:t>
            </a:r>
            <a:r>
              <a:rPr lang="lv-LV" sz="1900" dirty="0" err="1"/>
              <a:t>glabāšāna</a:t>
            </a:r>
            <a:r>
              <a:rPr lang="lv-LV" sz="1900" dirty="0"/>
              <a:t>, un uznirstošie logi un izejas dialogi ir saistīti (vizuāli).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900" i="1" dirty="0" err="1"/>
              <a:t>Godot</a:t>
            </a:r>
            <a:r>
              <a:rPr lang="lv-LV" sz="1900" i="1" dirty="0"/>
              <a:t> </a:t>
            </a:r>
            <a:r>
              <a:rPr lang="lv-LV" sz="1900" dirty="0"/>
              <a:t>projekta mezglu sakne tiks bāzēta no tās.</a:t>
            </a:r>
            <a:endParaRPr lang="lv-LV" sz="1900" i="1" dirty="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9FCEDB27-9CBD-1CB9-BCD7-8DEC06F0D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80695" y="1848222"/>
            <a:ext cx="7404795" cy="29172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20292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22346-E456-0311-EB17-5A560EDEE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A567AE-93A8-1EE8-618C-1A4E32C3F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190337" cy="2621139"/>
          </a:xfrm>
        </p:spPr>
        <p:txBody>
          <a:bodyPr/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895D74C-B087-42B0-5102-9FE439B6921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 ir sakne;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klasei ir pārējo klašu saites.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9E090F-371B-4B36-8EB4-A281FA1AE7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721" y="471487"/>
            <a:ext cx="6225540" cy="591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97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4BED6-2B4F-7709-3E41-50492B62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9B38919-F405-7667-6991-CE3458FC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04F7BCD-6ED8-6589-4569-655978CC3F0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34925690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BAB20-BC40-2E87-F045-B47803857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252864B-E05E-616C-506D-6472387C9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3567146-7DB7-3137-2289-46EA77E7A2E2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Komponenšu modelis;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6BDDE4EB-6EF3-138A-8F67-AEB17CA401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5455" y="2006726"/>
            <a:ext cx="7759143" cy="2844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4831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A6750-F4C5-8D73-34E7-327587E5C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199C088-13AF-BF58-A8EB-3D6296E23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EFE0893A-FE4E-589D-5114-5F5B889CE9D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Klašu modelis;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1E6714D5-9C31-4808-923E-BDC0943B7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1249" y="666007"/>
            <a:ext cx="7458150" cy="533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8649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6E354-6794-4BC3-26E3-D8BBF5D00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DD1850D-664F-7787-EA9A-14159B7CD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2B650326-6329-864E-03E7-99F6F7A72B0B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Ainu gaitas modelis;</a:t>
            </a:r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D5A62B9F-5A62-29E0-D66A-15A702CF0F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509" y="2659452"/>
            <a:ext cx="8004954" cy="1539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9632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E95C8-B063-7BB3-19C2-E6635F0E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C44E34C-5C6D-B394-F7F4-862531CB0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FF01FF8-BAFE-30EB-2C1A-B770236224B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\</a:t>
            </a:r>
          </a:p>
        </p:txBody>
      </p:sp>
    </p:spTree>
    <p:extLst>
      <p:ext uri="{BB962C8B-B14F-4D97-AF65-F5344CB8AC3E}">
        <p14:creationId xmlns:p14="http://schemas.microsoft.com/office/powerpoint/2010/main" val="35987025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7A4B6-5A6D-95E3-4C06-78257996E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AD1108-FC12-3BCA-CD15-13AD5A5D5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E770485-E781-A4AD-FC15-1FAD65D146E0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Ainu gaitas modelis;</a:t>
            </a:r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47622F08-2559-2310-05E2-8E00A23A38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7268" y="1661669"/>
            <a:ext cx="8082211" cy="353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266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07A3-DA31-B45A-858F-0F5AF757A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980BBA-D37D-73B8-88D7-7F0C5C712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C888045-E058-9B3B-474A-04C47062E83A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Ainu gaitas modelis;</a:t>
            </a:r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B885B71C-E5A9-E091-912E-AE9647A97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9988" y="412570"/>
            <a:ext cx="6696933" cy="574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5958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BE336-6459-D7F5-E8EF-BA85E9874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9E91FA1-E6CC-43CE-DF91-165C282E1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2086DCFD-64A9-2F41-876F-549861EA00C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Ainu gaitas modelis;</a:t>
            </a:r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B24DC25B-2A00-AAC5-72DD-ADF9111C54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9988" y="412570"/>
            <a:ext cx="6696933" cy="574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5828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A5CFD-6602-678D-67AC-97B4BC15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A2C4A8E-EDAF-043E-4E4F-2E50C169B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3DFA2E0-5EEE-50B7-A8FA-FE067EA8D4F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</p:txBody>
      </p:sp>
    </p:spTree>
    <p:extLst>
      <p:ext uri="{BB962C8B-B14F-4D97-AF65-F5344CB8AC3E}">
        <p14:creationId xmlns:p14="http://schemas.microsoft.com/office/powerpoint/2010/main" val="2775688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10DA6-7F3F-5C03-FD7F-C404B876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3486462-ADDB-3E1D-DD91-5998E783F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2704D871-E989-1153-E76F-F05F45974E1B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Ainu gaitas modelis;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2CA27721-A0FE-89EE-0D2D-C107211432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3" y="603607"/>
            <a:ext cx="6113537" cy="540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2909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D44A7-8D88-14DD-1867-D265AB3F7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CCDD0B8-FF88-DDED-972B-E635CC5BB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objektu</a:t>
            </a:r>
            <a:br>
              <a:rPr lang="lv-LV" dirty="0"/>
            </a:br>
            <a:r>
              <a:rPr lang="lv-LV" dirty="0"/>
              <a:t>īpašības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B0BC8BD-C7EC-EF66-74A7-FABAB7EC75F4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Ainu gaitas modelis;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5D9F3140-4CCD-F19F-B8F8-09CCA992B5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9970" y="749324"/>
            <a:ext cx="5978543" cy="508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22538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61878-1CED-5AE2-806E-0F9ED0508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D845A60-B99A-E54E-ABC1-D7D91D876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Lādiņš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09EFB942-CD63-865E-18C4-BA78F31F342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</p:txBody>
      </p:sp>
    </p:spTree>
    <p:extLst>
      <p:ext uri="{BB962C8B-B14F-4D97-AF65-F5344CB8AC3E}">
        <p14:creationId xmlns:p14="http://schemas.microsoft.com/office/powerpoint/2010/main" val="24446206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9D6CC-3ACB-A7A9-5B69-66A328545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1DE65FA-42E6-C2B1-BCEF-181C34AC3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Lādiņš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87CEE59-3B70-AE1F-8DAA-F46B791BD36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Ainu gaitas modelis;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8FDE6561-2F6A-26B8-3743-900F0ED8B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7528" y="783886"/>
            <a:ext cx="4214004" cy="5290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8515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3FACD-F790-A20B-1201-05145D966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65BB0093-336F-5889-494A-781D2617F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Kartes resurss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A7DF81F-CD95-0FAB-B1E3-515A5339395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</p:txBody>
      </p:sp>
    </p:spTree>
    <p:extLst>
      <p:ext uri="{BB962C8B-B14F-4D97-AF65-F5344CB8AC3E}">
        <p14:creationId xmlns:p14="http://schemas.microsoft.com/office/powerpoint/2010/main" val="27325619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B126-8BE2-E337-1498-50EB8353B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E253F1F-D108-3D0E-F28F-6D38DA34B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resurss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30C2B7F-75E6-6CC6-3361-AA50DDF2A06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Ainu gaitas modelis;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CED376D8-74D0-526B-E095-46F43069965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796" b="84"/>
          <a:stretch>
            <a:fillRect/>
          </a:stretch>
        </p:blipFill>
        <p:spPr bwMode="auto">
          <a:xfrm>
            <a:off x="4549189" y="736089"/>
            <a:ext cx="6469085" cy="508682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890852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06A56-4559-C70A-405D-68C09A72A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E4EF55A-D41A-4E91-76B2-24339626C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60" y="365125"/>
            <a:ext cx="4235570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Spēles laukuma stadijas</a:t>
            </a:r>
          </a:p>
        </p:txBody>
      </p:sp>
      <p:sp>
        <p:nvSpPr>
          <p:cNvPr id="4" name="Teksta vietturis 3">
            <a:extLst>
              <a:ext uri="{FF2B5EF4-FFF2-40B4-BE49-F238E27FC236}">
                <a16:creationId xmlns:a16="http://schemas.microsoft.com/office/drawing/2014/main" id="{0FF04966-D36C-F900-F146-DF8E37FFFFA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endParaRPr lang="lv-LV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B5F1B4F4-28B6-429C-C988-46ACA17921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3298" y="1289643"/>
            <a:ext cx="6943042" cy="370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4291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BBBB8-E39F-FF89-67EA-AC5734AB9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C959312-D64F-8C2E-AC3E-5F43F5EA8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60" y="365125"/>
            <a:ext cx="4235570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Līmeņu atlases klases</a:t>
            </a:r>
          </a:p>
        </p:txBody>
      </p:sp>
      <p:sp>
        <p:nvSpPr>
          <p:cNvPr id="4" name="Teksta vietturis 3">
            <a:extLst>
              <a:ext uri="{FF2B5EF4-FFF2-40B4-BE49-F238E27FC236}">
                <a16:creationId xmlns:a16="http://schemas.microsoft.com/office/drawing/2014/main" id="{824A55E3-3354-F4DA-BF4A-75D1A5F6909F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endParaRPr lang="lv-LV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8DB5774A-F67B-3F08-0CB3-4188803D0B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259"/>
          <a:stretch>
            <a:fillRect/>
          </a:stretch>
        </p:blipFill>
        <p:spPr bwMode="auto">
          <a:xfrm>
            <a:off x="5363832" y="544255"/>
            <a:ext cx="6201889" cy="204367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78FDA27-FA61-DE76-BC6C-D6DC639A859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36" r="-2660" b="52621"/>
          <a:stretch>
            <a:fillRect/>
          </a:stretch>
        </p:blipFill>
        <p:spPr bwMode="auto">
          <a:xfrm>
            <a:off x="5363832" y="2986264"/>
            <a:ext cx="4180463" cy="128381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2784932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īpašības: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Augstuma, traversa leņķa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Piegādes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Lādiņa īpašības.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ballistika: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Pretestība un vilces aprēķini; 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Detonācijas rādiusi;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Objektu bojāšana.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Uguņošanas stadija: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Ierīces atkārtotā uguņošana;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Sekošana.</a:t>
            </a:r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9A752-E90C-4BA8-E9E1-F937E873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F3DEBD-4FE8-D3D1-8D78-1475C28F8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BC8F78D-0422-2B6E-0EA0-A3388B75703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Kartes komponente: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Individuālo slāņu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kalibrēšana;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vilkšana kartes laukumā.</a:t>
            </a:r>
          </a:p>
        </p:txBody>
      </p:sp>
    </p:spTree>
    <p:extLst>
      <p:ext uri="{BB962C8B-B14F-4D97-AF65-F5344CB8AC3E}">
        <p14:creationId xmlns:p14="http://schemas.microsoft.com/office/powerpoint/2010/main" val="10055194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99CA906-7079-EBC7-12E9-C10C9ACB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Ierīces īpašības</a:t>
            </a:r>
          </a:p>
        </p:txBody>
      </p:sp>
      <p:pic>
        <p:nvPicPr>
          <p:cNvPr id="17" name="Attēls 16">
            <a:extLst>
              <a:ext uri="{FF2B5EF4-FFF2-40B4-BE49-F238E27FC236}">
                <a16:creationId xmlns:a16="http://schemas.microsoft.com/office/drawing/2014/main" id="{1AB15182-83D1-7054-5583-524B5DB38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973" y="159702"/>
            <a:ext cx="5883275" cy="653859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73668D8-A49D-692D-75F4-BC48F9E07D0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Augstuma, traversa leņķa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Piegādes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īpašības.</a:t>
            </a:r>
          </a:p>
        </p:txBody>
      </p:sp>
    </p:spTree>
    <p:extLst>
      <p:ext uri="{BB962C8B-B14F-4D97-AF65-F5344CB8AC3E}">
        <p14:creationId xmlns:p14="http://schemas.microsoft.com/office/powerpoint/2010/main" val="25454031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A939-B429-996D-994F-B82194F3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5FAFF2-C250-24F6-9196-76AEF345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BCE67539-7AE0-E21D-8BAD-61AAA52D032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Pretestības un vilces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 lādiņa un gaisa īpašības.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7F9847E3-BB5D-254C-31B8-3F955E033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1117" y="563533"/>
            <a:ext cx="7522868" cy="53886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0161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88382-4621-FE70-FAD5-453F7DE7F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88F4F5A-B896-0E8F-F3B4-03FA6E892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97403EB2-3784-D61A-A2D4-07B4B07B7117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Detonācijas rādiusu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Letālā un fragmentu rādiusi;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Ņemot vērā arī augstumu.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184825-D796-147C-CBDE-6E1727F0A9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6"/>
          <a:stretch/>
        </p:blipFill>
        <p:spPr bwMode="auto">
          <a:xfrm>
            <a:off x="3679273" y="901556"/>
            <a:ext cx="8125783" cy="450720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260664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95688-D81B-40A9-E847-7E0716C4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7A4001A-B800-B349-1466-C72A22748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504DC50-1340-0581-8EB9-20BB0AE7EBB3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Detonācijas un šķembu rādiusu aprēķini.</a:t>
            </a:r>
          </a:p>
        </p:txBody>
      </p:sp>
      <p:pic>
        <p:nvPicPr>
          <p:cNvPr id="7" name="Attēls 6">
            <a:extLst>
              <a:ext uri="{FF2B5EF4-FFF2-40B4-BE49-F238E27FC236}">
                <a16:creationId xmlns:a16="http://schemas.microsoft.com/office/drawing/2014/main" id="{6C8A8D83-046B-C554-80C6-6E712F0A0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49" y="699908"/>
            <a:ext cx="7912139" cy="501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478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D785-5D4E-0253-2E6B-D4F52C9AF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73C6074-3443-AE8D-513C-C96A3393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3466BF6B-98ED-3112-C893-BFF7ED6F8D59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Objektu bojāšana pēc detonācijas un tās šķembu rādiusiem.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288B0DC-A0A7-B242-1FAA-A580D6ED8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35" y="438599"/>
            <a:ext cx="6800850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6748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2911-6EF3-F39B-A45F-1DDC3F5FC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8A3CE-43B7-7FDF-67D7-BEE02B167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E460EF1-53CE-6F6E-5073-02DC7DB5427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atkārtotā uguņošana;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Pārbaude, vai ierīcei ir piegādāti lādiņi, tad uguņo.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CEDEEBF0-0661-CBF6-6634-9FCD8BD9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4937" y="198280"/>
            <a:ext cx="6850066" cy="61680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07971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C5742-B431-DF26-DDCB-B102DFA24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EB34D54-D8EF-86CD-E12C-35ADB7818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D43C506-5E24-A4A7-4F23-B18F29050C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uguņošanas skaitīšana;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Pārbaudes, vai noteikts skaits tika izšauts no ierīces;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visu spēlētāja vai pretinieka izšaušanas uz nākamo stadiju.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A4C88A-B144-036E-6D67-7627FC12D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9116" y="426109"/>
            <a:ext cx="8402145" cy="57504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46351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F5B-BA7D-BE5C-7E7A-B3475B973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A21BFD5-C42B-C933-054F-B7CD0FE92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E8EC51A-7E3C-5B9C-501D-FC8BB2230F5E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Katram kartes slānim ielādē savus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Kamera tiek kalibrēta.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28C3EF2A-4391-6E7B-788E-1533871D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4603" y="473530"/>
            <a:ext cx="7476951" cy="55994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82707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57F4F-8C08-F903-01AC-238D613B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66205A16-5757-5677-A67B-30DE41994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F81274D-182F-4EB2-1F65-7BE5765B7161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slāņu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Slāņu klases mantotājiem atšķiras ielādēšanas metodes.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5950B96-E979-68BE-5AA9-225919800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412" y="899406"/>
            <a:ext cx="5010150" cy="1552575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B2CFD94B-64E0-5B4B-F7F4-11558BE97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229" y="3416060"/>
            <a:ext cx="3590925" cy="1971675"/>
          </a:xfrm>
          <a:prstGeom prst="rect">
            <a:avLst/>
          </a:prstGeom>
        </p:spPr>
      </p:pic>
      <p:sp>
        <p:nvSpPr>
          <p:cNvPr id="8" name="Teksta vietturis 15">
            <a:extLst>
              <a:ext uri="{FF2B5EF4-FFF2-40B4-BE49-F238E27FC236}">
                <a16:creationId xmlns:a16="http://schemas.microsoft.com/office/drawing/2014/main" id="{068C3CA5-3058-DEC2-287C-0295946C8AD1}"/>
              </a:ext>
            </a:extLst>
          </p:cNvPr>
          <p:cNvSpPr txBox="1">
            <a:spLocks/>
          </p:cNvSpPr>
          <p:nvPr/>
        </p:nvSpPr>
        <p:spPr>
          <a:xfrm>
            <a:off x="3647985" y="995759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GroundLayer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7B7C6628-2FA9-B6FE-FBE2-34E5E8328E5D}"/>
              </a:ext>
            </a:extLst>
          </p:cNvPr>
          <p:cNvSpPr txBox="1">
            <a:spLocks/>
          </p:cNvSpPr>
          <p:nvPr/>
        </p:nvSpPr>
        <p:spPr>
          <a:xfrm>
            <a:off x="3647984" y="4012866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EntityLayer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</p:spTree>
    <p:extLst>
      <p:ext uri="{BB962C8B-B14F-4D97-AF65-F5344CB8AC3E}">
        <p14:creationId xmlns:p14="http://schemas.microsoft.com/office/powerpoint/2010/main" val="18285246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8C96F-576A-3075-B7E9-86A57EF0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764D5B-7A7E-6984-69AD-B147F07D8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49981F2-3E01-8DB8-1023-D713E0D502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i="1" dirty="0" err="1"/>
              <a:t>EntityLayer</a:t>
            </a:r>
            <a:r>
              <a:rPr lang="lv-LV" sz="1800" dirty="0"/>
              <a:t> un </a:t>
            </a:r>
            <a:r>
              <a:rPr lang="lv-LV" sz="1800" i="1" dirty="0" err="1"/>
              <a:t>OverlayLayer</a:t>
            </a:r>
            <a:r>
              <a:rPr lang="lv-LV" sz="1800" dirty="0"/>
              <a:t> atšķiras slāņu </a:t>
            </a:r>
            <a:r>
              <a:rPr lang="lv-LV" sz="1800" dirty="0" err="1"/>
              <a:t>ielādes</a:t>
            </a:r>
            <a:r>
              <a:rPr lang="lv-LV" sz="1800" dirty="0"/>
              <a:t> metodes;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Individuāli režģu dati tiek ievietoti rindā;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Pēc tās instances parādīšanās tiek ievietota instanču sarakstā.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84B985EA-EEA2-1691-FCD6-31EC9E5C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29" y="221910"/>
            <a:ext cx="4970253" cy="2764354"/>
          </a:xfrm>
          <a:prstGeom prst="rect">
            <a:avLst/>
          </a:prstGeom>
        </p:spPr>
      </p:pic>
      <p:pic>
        <p:nvPicPr>
          <p:cNvPr id="12" name="Attēls 11">
            <a:extLst>
              <a:ext uri="{FF2B5EF4-FFF2-40B4-BE49-F238E27FC236}">
                <a16:creationId xmlns:a16="http://schemas.microsoft.com/office/drawing/2014/main" id="{39769EE5-5C1C-1698-B4EF-FE9D3C23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29" y="3050834"/>
            <a:ext cx="4970253" cy="3186060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A9E586F0-6B75-E3E5-F859-C5F0FDA3DDD1}"/>
              </a:ext>
            </a:extLst>
          </p:cNvPr>
          <p:cNvSpPr txBox="1">
            <a:spLocks/>
          </p:cNvSpPr>
          <p:nvPr/>
        </p:nvSpPr>
        <p:spPr>
          <a:xfrm>
            <a:off x="3726340" y="1103898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pievienošana laukumā</a:t>
            </a:r>
          </a:p>
        </p:txBody>
      </p:sp>
      <p:sp>
        <p:nvSpPr>
          <p:cNvPr id="14" name="Teksta vietturis 15">
            <a:extLst>
              <a:ext uri="{FF2B5EF4-FFF2-40B4-BE49-F238E27FC236}">
                <a16:creationId xmlns:a16="http://schemas.microsoft.com/office/drawing/2014/main" id="{25E4A1DA-1D7E-8E6C-891C-2A8C5E1700C1}"/>
              </a:ext>
            </a:extLst>
          </p:cNvPr>
          <p:cNvSpPr txBox="1">
            <a:spLocks/>
          </p:cNvSpPr>
          <p:nvPr/>
        </p:nvSpPr>
        <p:spPr>
          <a:xfrm>
            <a:off x="3860768" y="4038716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instances parādīšanās darbības</a:t>
            </a:r>
          </a:p>
        </p:txBody>
      </p:sp>
    </p:spTree>
    <p:extLst>
      <p:ext uri="{BB962C8B-B14F-4D97-AF65-F5344CB8AC3E}">
        <p14:creationId xmlns:p14="http://schemas.microsoft.com/office/powerpoint/2010/main" val="23880999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CAE67-9D65-267E-594B-6862B5C7F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0E5A285-6D16-72AE-29C0-61CDD4A83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C4E27931-925B-2553-0866-CBA705998A55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Iegūts kameras kalibrēšanas slāņa izmērs;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Pēc režģa izmēriem aprēķina kameras ierobežojumus.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8D7B762-EF64-05D7-B099-A9A64F524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65855" y="1172921"/>
            <a:ext cx="7885347" cy="42530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05010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6F150-8E70-543F-AA5D-C895DFABA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1D15C0-B40C-F890-C39B-EF4B33875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FA843DA-1B2E-BA05-26AF-8A060FF58028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Iegūst peles ievades datus vilkšanas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Ar ievades datiem ierobežo kameras novietojumu.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31D61CC5-64C8-ED34-FF6D-80F1A15039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91457" y="323713"/>
            <a:ext cx="7235701" cy="621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7125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749AC-FD13-DEB4-6693-AC8ADD23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D471C7-2A91-4D1B-6D95-FAE1382D1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Secinājumi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97BA48-1DE4-F2E7-58AB-C124318F5D4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Sākotnēji šķietami vienkārši izstrādājama;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daļa bija apjomīgākā;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 bija sarežģītāka, jo vienlaicīgi tika apgūta cita </a:t>
            </a:r>
            <a:r>
              <a:rPr lang="lv-LV" sz="2800" dirty="0" err="1"/>
              <a:t>prog</a:t>
            </a:r>
            <a:r>
              <a:rPr lang="lv-LV" sz="2800" dirty="0"/>
              <a:t>. valoda un dzinis;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Personīgi bija OOP izstrādes pārbaudījums;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Galvenie mērķi izpildīti, pat pievienojot papildus funkcionalitātes.</a:t>
            </a:r>
          </a:p>
        </p:txBody>
      </p:sp>
    </p:spTree>
    <p:extLst>
      <p:ext uri="{BB962C8B-B14F-4D97-AF65-F5344CB8AC3E}">
        <p14:creationId xmlns:p14="http://schemas.microsoft.com/office/powerpoint/2010/main" val="10842041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1EB0-343D-C878-0341-F34F988F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29F9C0-C59E-E93E-EF0A-616EA7F3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Ainas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E0B880C-077B-EC42-504C-0956E476464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26919104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2202-62AB-9F0A-F1FB-EA758036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0BA5-D57B-E796-669E-CCB6070DB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FAD0FE07-040C-99FF-6097-7F9AD963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4BA6E597-7B99-6560-B9AA-EA444A80A5E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9382967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5A0B-9A51-12B9-D9B5-E0E086D9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C18DDBE-C861-A2F8-03BB-2128D0E1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8F7EBAE-EB24-0FCA-974E-1B305E858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3EAC2F0B-9337-0A4B-F489-92FB898D77C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anotācijas</a:t>
            </a:r>
          </a:p>
        </p:txBody>
      </p:sp>
    </p:spTree>
    <p:extLst>
      <p:ext uri="{BB962C8B-B14F-4D97-AF65-F5344CB8AC3E}">
        <p14:creationId xmlns:p14="http://schemas.microsoft.com/office/powerpoint/2010/main" val="411797657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42F0-D368-6CC8-9A76-7E9B20FA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7B8655-7050-54D1-AC90-376EF048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7E19D00C-2F20-3EF9-7490-2563BA7F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081B1E93-BDAB-86AD-8B86-C987E5A0751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Iestatījumu logs</a:t>
            </a:r>
          </a:p>
        </p:txBody>
      </p:sp>
    </p:spTree>
    <p:extLst>
      <p:ext uri="{BB962C8B-B14F-4D97-AF65-F5344CB8AC3E}">
        <p14:creationId xmlns:p14="http://schemas.microsoft.com/office/powerpoint/2010/main" val="39899848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B820-A59F-503B-C14F-8B2CB23C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D76A3B0-B3F8-1208-3353-6BA9BBF39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592651C6-5F53-16E9-FB32-63FB01003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852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0982153-8642-6652-6134-965F865F21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Anotācija</a:t>
            </a:r>
          </a:p>
        </p:txBody>
      </p:sp>
    </p:spTree>
    <p:extLst>
      <p:ext uri="{BB962C8B-B14F-4D97-AF65-F5344CB8AC3E}">
        <p14:creationId xmlns:p14="http://schemas.microsoft.com/office/powerpoint/2010/main" val="20004482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F4E0-D2FC-1A1C-EC43-0AE75520B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41233A-D097-A297-C3EC-CA7E13CF1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44C5005-1E13-95C1-CCEF-59EE2E74B16F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Izejas dialogs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990602B-7236-E340-C0BB-404F1257F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44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A875-4B4A-FFB8-D59C-253806E90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6C6FDA6-A975-4169-2F7F-4E08370D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F618116-A200-1D20-2F89-AFFEE4EA961D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Atlases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F8535F0-E1FB-E55A-B644-927F6CE81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6200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68DD-17FA-5054-3445-799A51A68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DFDE5D-EFAE-C140-F4B5-199B8AF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49D0FA5-D1BA-96C7-BCF4-3A89103FF5C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Pieejamā līmeņa informācija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42119739-2AFD-AE3C-A4B9-06382F642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598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0299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0B8F3-FCB8-8904-C52E-93D5F768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E156738-6C8B-AF77-2182-32F730FEC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7FD74B6B-ABD6-CC73-D2E4-904C98A7C60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Sākuma stadija pēc līmeņa atvēršanas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14520E99-3EB8-90D6-C883-4A184EBE6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28739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7A748-BAF3-FF46-A235-79EDB7A2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A9147F3-2052-D70A-12DD-A9F8294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1BD7DE2-FE5D-470D-BD87-317F74EE1356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Pēc vilkšanas skats – atzīmētie mērķi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310047FB-CB3B-9602-1154-865162DDC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35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989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CDEA-AE6A-561D-D71A-B2BC88AC4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DE24F80-3D43-0B70-D5A1-95B518EC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DBDBDB0-38C6-727C-A1E8-FA2BFDE76CD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Spēlētāja ierīces ievietošana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65C6AB90-527B-473D-8FBB-57DEC523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80826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D6C6-0F15-28DF-0BE7-52BE7C5B5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3FD5F20-CC80-06AC-B003-B7ECF0794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31702F5-3ADA-426A-D25C-DE5FFC35138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koriģēšanas stadija – aktivizēta mērīšanas rīks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2400453F-7D22-D593-95B4-BAD2DD55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489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61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E9E1-F020-CB8B-CFC0-E2583FED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0E1B584-F9D6-7627-DDA7-61BE68F31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FA7A555-D434-8279-150D-9E14C3BF2A91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Mērījuma rīks – atzīmēts distances mērījums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8ED706B9-344A-E22C-1682-CD6DA1C53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236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89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988-EF37-B00F-ADD2-75183D30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58B037D-E60B-3486-168E-1BE52AD3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A61ABBD-860E-FDCC-F163-B608CE51EE1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 – atlasīta spēlētāja ierīce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BBD8FD00-11DE-269C-D468-4A2E18B69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9731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B3A7-7962-457F-960E-4BED5394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AB1A-3EB2-438D-E4B9-BFA8A4EA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3DB00045-3876-4E2C-BA02-641A4E2C8D9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Paslēpta uguņošanas sekojumu 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DD6F7B5-CBE9-7ED0-736F-E4A6E2B02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589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C413-87E1-B84A-A043-0D70D40B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48EA2F5-DF18-C699-AC97-DA367553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14D0075D-025C-65CC-73A3-08A336D6CB3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Koriģēšanas stadija – pēc uguņošanas iznīcinātie mērķi (vēl viens mērķis citā laukuma vietā)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34E425D-BB8C-1BA7-39B6-CA455247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451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BAC7B-B956-591C-EE19-249101337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B5B7F87-F067-BF9C-FB15-12DBAC519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B350DC5-AC20-A840-6F86-F7BC6D1D84B7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Rezultātu stadija – uzvara pēc visu mērķu iznīcināšanu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2959F44-8596-C0DE-BCCF-C69BB25D6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202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701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FA2F-1EFB-D88F-617E-9023239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B9FB7C5-CC90-4B37-BCDA-D6D4702AE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5F50E4E-2B40-462F-C417-DC8D50AD6A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3. līmenī atrodas aizsegti laukumi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97C32BDA-2CFD-6126-E7CC-FE20DA99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60385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581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159A6-093D-C083-0631-90595C38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F3B7EA-ECB7-21F3-E94F-48C9F21D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C3DD07A-6532-DDA3-FA4B-D378896294C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Izlūku izsaukšanas piedāvājums pēc nejaušības (1/6 iespēja </a:t>
            </a:r>
            <a:r>
              <a:rPr lang="lv-LV" sz="2800" dirty="0" err="1"/>
              <a:t>aizseguma</a:t>
            </a:r>
            <a:r>
              <a:rPr lang="lv-LV" sz="2800" dirty="0"/>
              <a:t> noņemšana netiek veikta)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CF28FEF3-9CD1-289F-388C-AC3591C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07690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4B6D-649F-C9F2-8FC4-64968B6E3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30E3A23-5713-F627-074D-5995FC4B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1564D8B-3759-6050-6004-9172C88D4F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 err="1"/>
              <a:t>Aizseguma</a:t>
            </a:r>
            <a:r>
              <a:rPr lang="lv-LV" sz="2800" dirty="0"/>
              <a:t> noņemšanas rezultāts – mērķi parādīti, taču uguns pret spēlētāju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711FBBD-C177-7C75-E27A-0CCFD1D31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3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258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34AB3-8EE9-BB21-7139-3BC696A9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CBF28C-94C9-F19B-C34A-A11210C2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3439E47-AE2D-14ED-5130-3BA29369797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Zaudēta spēle – visas spēlētāja ierīces tika iznīcinātas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5812010-23A3-CD4D-D31E-34EE3AA6B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493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27591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CE91-88E1-B476-57CD-CB11F282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D462EDF-9AF7-FEA1-D172-7BE5DB70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8EA441F-5649-1B47-8F20-052424204D9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C044AA0-27C1-33A7-BF9E-E48FB1185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784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973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D6F9B-4024-27C7-5177-DDC434C5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A182AFA-EBE6-23EA-1A9D-98D8133E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CF0F1B49-96E6-BE98-25A6-4D369DFA3A1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izvēlnes iestatījumi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D94AF844-55BB-18E1-BA39-19C3D4BE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46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1725</TotalTime>
  <Words>1313</Words>
  <Application>Microsoft Office PowerPoint</Application>
  <PresentationFormat>Platekrāna</PresentationFormat>
  <Paragraphs>304</Paragraphs>
  <Slides>75</Slides>
  <Notes>11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75</vt:i4>
      </vt:variant>
    </vt:vector>
  </HeadingPairs>
  <TitlesOfParts>
    <vt:vector size="79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«Design Bureau Logika» Mīnmetēja simulators</vt:lpstr>
      <vt:lpstr>Mērķis</vt:lpstr>
      <vt:lpstr>Vispārīgās prasības</vt:lpstr>
      <vt:lpstr>Vispārīgās prasības</vt:lpstr>
      <vt:lpstr>Vispārīgās prasības</vt:lpstr>
      <vt:lpstr>Vispārīgās prasības</vt:lpstr>
      <vt:lpstr>Lietotāja rakstura iezīmes</vt:lpstr>
      <vt:lpstr>Izstrādes soļi</vt:lpstr>
      <vt:lpstr>Izstrādes rīki un valodas</vt:lpstr>
      <vt:lpstr>Versiju kontrole</vt:lpstr>
      <vt:lpstr>Iespējamās alternatīvas – Valoda</vt:lpstr>
      <vt:lpstr>Iespējamās alternatīvas – Dzinis</vt:lpstr>
      <vt:lpstr>Modeļi – Sistēmas pārvaldnieks</vt:lpstr>
      <vt:lpstr>Modeļi – Sistēmas pārvaldnieks</vt:lpstr>
      <vt:lpstr>Modeļi – Sistēmas pārvaldnieks</vt:lpstr>
      <vt:lpstr>Modeļi – Ainas</vt:lpstr>
      <vt:lpstr>Modeļi – Ainas</vt:lpstr>
      <vt:lpstr>Modeļi – Ainas</vt:lpstr>
      <vt:lpstr>Modeļi – Ainas</vt:lpstr>
      <vt:lpstr>Modeļi – Karte</vt:lpstr>
      <vt:lpstr>Modeļi – Karte</vt:lpstr>
      <vt:lpstr>Modeļi – Karte</vt:lpstr>
      <vt:lpstr>Modeļi – Karte</vt:lpstr>
      <vt:lpstr>Modeļi – Kartes objekti</vt:lpstr>
      <vt:lpstr>Modeļi – Kartes objekti</vt:lpstr>
      <vt:lpstr>Modeļi – Kartes objektu īpašības</vt:lpstr>
      <vt:lpstr>Modeļi – Lādiņš</vt:lpstr>
      <vt:lpstr>Modeļi – Lādiņš</vt:lpstr>
      <vt:lpstr>Modeļi – Kartes resurss</vt:lpstr>
      <vt:lpstr>Modeļi – Kartes resurss</vt:lpstr>
      <vt:lpstr>Modeļi – Spēles laukuma stadijas</vt:lpstr>
      <vt:lpstr>Modeļi – Līmeņu atlases klases</vt:lpstr>
      <vt:lpstr>Kodu priekšskatījumi</vt:lpstr>
      <vt:lpstr>Kodu priekšskatījumi</vt:lpstr>
      <vt:lpstr>Kods – Ierīces īpašības</vt:lpstr>
      <vt:lpstr>Kods – Lādiņa ballistika</vt:lpstr>
      <vt:lpstr>Kods – Lādiņa ballistika</vt:lpstr>
      <vt:lpstr>Kods – Uguņošanas stadija</vt:lpstr>
      <vt:lpstr>Kods – Uguņošanas stadija</vt:lpstr>
      <vt:lpstr>Kods – Uguņošanas stadija</vt:lpstr>
      <vt:lpstr>Kods – Uguņošanas stadija</vt:lpstr>
      <vt:lpstr>Kods – Kartes komponente</vt:lpstr>
      <vt:lpstr>Kods – Kartes komponente</vt:lpstr>
      <vt:lpstr>Kods – Kartes komponente</vt:lpstr>
      <vt:lpstr>Kods – Kartes komponente</vt:lpstr>
      <vt:lpstr>Kods – Kartes komponente</vt:lpstr>
      <vt:lpstr>Secinājumi</vt:lpstr>
      <vt:lpstr>Ainas priekšskatījumi</vt:lpstr>
      <vt:lpstr>Ainas – Sākuma aina</vt:lpstr>
      <vt:lpstr>Ainas – Sākuma aina</vt:lpstr>
      <vt:lpstr>Ainas – Sākuma aina</vt:lpstr>
      <vt:lpstr>Ainas – Sākuma aina</vt:lpstr>
      <vt:lpstr>Ainas – Sākuma aina</vt:lpstr>
      <vt:lpstr>Ainas – Līmeņu atlase</vt:lpstr>
      <vt:lpstr>Ainas – Līmeņu atlase</vt:lpstr>
      <vt:lpstr>Ainas – Līmeņu atlase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265</cp:revision>
  <dcterms:created xsi:type="dcterms:W3CDTF">2026-06-09T16:32:45Z</dcterms:created>
  <dcterms:modified xsi:type="dcterms:W3CDTF">2026-06-13T19:50:52Z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