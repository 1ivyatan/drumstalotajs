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4"/>
  </p:notesMasterIdLst>
  <p:handoutMasterIdLst>
    <p:handoutMasterId r:id="rId55"/>
  </p:handoutMasterIdLst>
  <p:sldIdLst>
    <p:sldId id="256" r:id="rId5"/>
    <p:sldId id="285" r:id="rId6"/>
    <p:sldId id="257" r:id="rId7"/>
    <p:sldId id="286" r:id="rId8"/>
    <p:sldId id="287" r:id="rId9"/>
    <p:sldId id="317" r:id="rId10"/>
    <p:sldId id="288" r:id="rId11"/>
    <p:sldId id="258" r:id="rId12"/>
    <p:sldId id="292" r:id="rId13"/>
    <p:sldId id="294" r:id="rId14"/>
    <p:sldId id="289" r:id="rId15"/>
    <p:sldId id="293" r:id="rId16"/>
    <p:sldId id="296" r:id="rId17"/>
    <p:sldId id="321" r:id="rId18"/>
    <p:sldId id="323" r:id="rId19"/>
    <p:sldId id="297" r:id="rId20"/>
    <p:sldId id="322" r:id="rId21"/>
    <p:sldId id="324" r:id="rId22"/>
    <p:sldId id="325" r:id="rId23"/>
    <p:sldId id="337" r:id="rId24"/>
    <p:sldId id="326" r:id="rId25"/>
    <p:sldId id="327" r:id="rId26"/>
    <p:sldId id="329" r:id="rId27"/>
    <p:sldId id="332" r:id="rId28"/>
    <p:sldId id="334" r:id="rId29"/>
    <p:sldId id="331" r:id="rId30"/>
    <p:sldId id="335" r:id="rId31"/>
    <p:sldId id="336" r:id="rId32"/>
    <p:sldId id="259" r:id="rId33"/>
    <p:sldId id="310" r:id="rId34"/>
    <p:sldId id="305" r:id="rId35"/>
    <p:sldId id="308" r:id="rId36"/>
    <p:sldId id="309" r:id="rId37"/>
    <p:sldId id="319" r:id="rId38"/>
    <p:sldId id="320" r:id="rId39"/>
    <p:sldId id="306" r:id="rId40"/>
    <p:sldId id="307" r:id="rId41"/>
    <p:sldId id="315" r:id="rId42"/>
    <p:sldId id="313" r:id="rId43"/>
    <p:sldId id="338" r:id="rId44"/>
    <p:sldId id="339" r:id="rId45"/>
    <p:sldId id="340" r:id="rId46"/>
    <p:sldId id="341" r:id="rId47"/>
    <p:sldId id="303" r:id="rId48"/>
    <p:sldId id="302" r:id="rId49"/>
    <p:sldId id="304" r:id="rId50"/>
    <p:sldId id="267" r:id="rId51"/>
    <p:sldId id="274" r:id="rId52"/>
    <p:sldId id="275" r:id="rId53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Vidējs stils 2 - izcēlum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Vidējs stils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8/10/relationships/authors" Target="author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14.06.2026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14.06.2026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11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52CC9-BB6A-D927-B299-B556DBEC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53718371-51ED-89F4-94E9-4FB30FF78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C0223822-CF4A-5792-3A11-C381086D2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44C997E-D006-B753-905A-120C5F578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68660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2A9C-E682-EB43-2618-CA07E2C4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7D9A87DB-EB3B-286D-FB03-50D0FAC70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95FD26DB-D9FA-0903-9363-1C5990923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657B54F-439B-2414-3DCC-B6B6CB093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78779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C2A1-7494-F784-C629-E9C9BF2D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785221C-AD45-087E-2A4A-B0F4E6E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F3A9CCF-5485-B195-5A67-86DA57BCD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E6396BE-8EE3-4EC0-3018-80659151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76814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un projekta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komponente; 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ieskatoties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kodu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Struktūra atrodas visā projekta darbības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globālos mainīgos un iestatījumus;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globālās metodes un globālo funkcionalitāšu </a:t>
            </a:r>
            <a:r>
              <a:rPr lang="lv-LV" sz="2800" dirty="0" err="1"/>
              <a:t>logrīkus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Pārvalda ainas, mūzikas atskaņošanu un datu glabāšanu.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3631-8FB1-9BA2-AC94-20768C4F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2535D00-3845-4361-80A0-C5677F9F1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3726118-7C35-F446-F03E-D7A6CD50660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Datu un iestatījumu </a:t>
            </a:r>
            <a:r>
              <a:rPr lang="lv-LV" sz="1900" dirty="0" err="1"/>
              <a:t>glabāšāna</a:t>
            </a:r>
            <a:r>
              <a:rPr lang="lv-LV" sz="1900" dirty="0"/>
              <a:t>, un uznirstošie logi un izejas dialogi ir saistīti (vizuāli).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i="1" dirty="0" err="1"/>
              <a:t>Godot</a:t>
            </a:r>
            <a:r>
              <a:rPr lang="lv-LV" sz="1900" i="1" dirty="0"/>
              <a:t> </a:t>
            </a:r>
            <a:r>
              <a:rPr lang="lv-LV" sz="1900" dirty="0"/>
              <a:t>projekta mezglu sakne tiks bāzēta no tās.</a:t>
            </a:r>
            <a:endParaRPr lang="lv-LV" sz="1900" i="1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FCEDB27-9CBD-1CB9-BCD7-8DEC06F0D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80695" y="1848222"/>
            <a:ext cx="7404795" cy="29172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0292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2346-E456-0311-EB17-5A560EDEE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A567AE-93A8-1EE8-618C-1A4E32C3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895D74C-B087-42B0-5102-9FE439B6921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klašu saites.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E090F-371B-4B36-8EB4-A281FA1AE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97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 </a:t>
            </a:r>
            <a:r>
              <a:rPr lang="lv-LV" sz="2800" i="1" dirty="0"/>
              <a:t>(Start):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 </a:t>
            </a:r>
            <a:r>
              <a:rPr lang="lv-LV" sz="2800" i="1" dirty="0"/>
              <a:t>(</a:t>
            </a:r>
            <a:r>
              <a:rPr lang="lv-LV" sz="2800" i="1" dirty="0" err="1"/>
              <a:t>Level</a:t>
            </a:r>
            <a:r>
              <a:rPr lang="lv-LV" sz="2800" i="1" dirty="0"/>
              <a:t> </a:t>
            </a:r>
            <a:r>
              <a:rPr lang="lv-LV" sz="2800" i="1" dirty="0" err="1"/>
              <a:t>selection</a:t>
            </a:r>
            <a:r>
              <a:rPr lang="lv-LV" sz="2800" i="1" dirty="0"/>
              <a:t>)</a:t>
            </a:r>
            <a:r>
              <a:rPr lang="lv-LV" sz="2800" dirty="0"/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 </a:t>
            </a:r>
            <a:r>
              <a:rPr lang="lv-LV" sz="2800" i="1" dirty="0"/>
              <a:t>(</a:t>
            </a:r>
            <a:r>
              <a:rPr lang="lv-LV" sz="2800" i="1" dirty="0" err="1"/>
              <a:t>Battle</a:t>
            </a:r>
            <a:r>
              <a:rPr lang="lv-LV" sz="2800" i="1" dirty="0"/>
              <a:t>)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AB20-BC40-2E87-F045-B4780385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252864B-E05E-616C-506D-6472387C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3567146-7DB7-3137-2289-46EA77E7A2E2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Līmeņu atlase un spēles laukums satur </a:t>
            </a:r>
            <a:r>
              <a:rPr lang="lv-LV" sz="2400" dirty="0" err="1"/>
              <a:t>virsjoslu</a:t>
            </a:r>
            <a:r>
              <a:rPr lang="lv-LV" sz="2400" dirty="0"/>
              <a:t> un karti;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6BDDE4EB-6EF3-138A-8F67-AEB17CA401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455" y="2006726"/>
            <a:ext cx="7759143" cy="284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83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A6750-F4C5-8D73-34E7-327587E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99C088-13AF-BF58-A8EB-3D6296E23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FE0893A-FE4E-589D-5114-5F5B889CE9D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Neņemot vērā </a:t>
            </a:r>
            <a:r>
              <a:rPr lang="lv-LV" sz="2400" dirty="0" err="1"/>
              <a:t>virsjoslas</a:t>
            </a:r>
            <a:r>
              <a:rPr lang="lv-LV" sz="2400" dirty="0"/>
              <a:t> un kartes komponenti;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Spēles laukuma ainai ir vairākas atkarīgas klases.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E6714D5-9C31-4808-923E-BDC0943B7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49" y="666007"/>
            <a:ext cx="7458150" cy="53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64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6E354-6794-4BC3-26E3-D8BBF5D0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DD1850D-664F-7787-EA9A-14159B7CD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B650326-6329-864E-03E7-99F6F7A72B0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Ainu gaitas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Līmenis tiek atvērts, ja pēc nosacījumiem līmenis ir atslēgts.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D5A62B9F-5A62-29E0-D66A-15A702CF0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509" y="2659452"/>
            <a:ext cx="8004954" cy="15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63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A3876-4A94-42A0-6677-5E9430C2D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E0A42D-7CB6-7624-F0CA-58D7DE62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513F224-C670-96F5-0E69-F7821E18CA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Visbūtiskākā komponente: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Atrodas datorspēles būtiskākā loģika;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Iekļauj zemi, objektus un lādiņu laukumu.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Slāņi: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Zemes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GroundLayer</a:t>
            </a:r>
            <a:r>
              <a:rPr lang="lv-LV" i="1" dirty="0">
                <a:solidFill>
                  <a:schemeClr val="bg1"/>
                </a:solidFill>
              </a:rPr>
              <a:t>);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Objektu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EntityLayer</a:t>
            </a:r>
            <a:r>
              <a:rPr lang="lv-LV" i="1" dirty="0">
                <a:solidFill>
                  <a:schemeClr val="bg1"/>
                </a:solidFill>
              </a:rPr>
              <a:t>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Atlasītājs: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Vizuālais indikators objektu atlasei</a:t>
            </a:r>
            <a:r>
              <a:rPr lang="lv-LV" i="1" dirty="0">
                <a:solidFill>
                  <a:schemeClr val="bg1"/>
                </a:solidFill>
              </a:rPr>
              <a:t>.</a:t>
            </a:r>
            <a:endParaRPr lang="lv-LV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Rāda kartes fragmentu;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Velkams pa visu karti skata vietas maiņai.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Lādiņu laukums: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Satur visus lādiņus, kuri tajā fizikālā telpā tiek izšauti, vilkti pa gaisu un detonēti nolaižoties uz zemes slāni.</a:t>
            </a:r>
          </a:p>
        </p:txBody>
      </p:sp>
    </p:spTree>
    <p:extLst>
      <p:ext uri="{BB962C8B-B14F-4D97-AF65-F5344CB8AC3E}">
        <p14:creationId xmlns:p14="http://schemas.microsoft.com/office/powerpoint/2010/main" val="749698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7A4B6-5A6D-95E3-4C06-78257996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AD1108-FC12-3BCA-CD15-13AD5A5D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E770485-E781-A4AD-FC15-1FAD65D146E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Iekļauti slāņi, kamera, atlasītājs un lādiņu laukums;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Atlasītājs un kamera ir atkarīga no zemes slāņa;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Lādiņu laukums ir atkarīgs no zemes un objektu slāņa.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7622F08-2559-2310-05E2-8E00A23A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268" y="1661669"/>
            <a:ext cx="8082211" cy="353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266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07A3-DA31-B45A-858F-0F5AF757A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980BBA-D37D-73B8-88D7-7F0C5C712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C888045-E058-9B3B-474A-04C47062E83A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Visi slāņi ir mantoti no bāzes slāņa klases;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885B71C-E5A9-E091-912E-AE9647A97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5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0DA6-7F3F-5C03-FD7F-C404B876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3486462-ADDB-3E1D-DD91-5998E783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704D871-E989-1153-E76F-F05F45974E1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Atrodas </a:t>
            </a:r>
            <a:r>
              <a:rPr lang="lv-LV" sz="2000" i="1" dirty="0" err="1"/>
              <a:t>EntityLayer</a:t>
            </a:r>
            <a:r>
              <a:rPr lang="lv-LV" sz="2000" dirty="0"/>
              <a:t> slānī;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Norāda objektu kartē;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statiskās un 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Mantotājiem papildus īpašības.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2CA27721-A0FE-89EE-0D2D-C10721143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3" y="603607"/>
            <a:ext cx="6113537" cy="540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290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44A7-8D88-14DD-1867-D265AB3F7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CCDD0B8-FF88-DDED-972B-E635CC5B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objektu</a:t>
            </a:r>
            <a:br>
              <a:rPr lang="lv-LV" dirty="0"/>
            </a:br>
            <a:r>
              <a:rPr lang="lv-LV" dirty="0"/>
              <a:t>īpašības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B0BC8BD-C7EC-EF66-74A7-FABAB7EC75F4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Katrs objekts kartē norāda uz tām;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Ierīces īpašību klasei daudz jaunu īpašību.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D9F3140-4CCD-F19F-B8F8-09CCA992B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9970" y="749324"/>
            <a:ext cx="5978543" cy="508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2538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9D6CC-3ACB-A7A9-5B69-66A328545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DE65FA-42E6-C2B1-BCEF-181C34AC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Lādiņš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87CEE59-3B70-AE1F-8DAA-F46B791BD36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Glabā ballistikas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Satur metodes ballistikas aprēķiniem un detonācijai.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8FDE6561-2F6A-26B8-3743-900F0ED8B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528" y="783886"/>
            <a:ext cx="4214004" cy="529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515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126-8BE2-E337-1498-50EB8353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E253F1F-D108-3D0E-F28F-6D38DA34B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resurss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30C2B7F-75E6-6CC6-3361-AA50DDF2A06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slāņu, pieejamo ierīču un grūtības palielināšanas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Pats resurss tiek glabāts kā </a:t>
            </a:r>
            <a:r>
              <a:rPr lang="lv-LV" sz="2000" i="1" dirty="0"/>
              <a:t>.</a:t>
            </a:r>
            <a:r>
              <a:rPr lang="lv-LV" sz="2000" i="1" dirty="0" err="1"/>
              <a:t>tres</a:t>
            </a:r>
            <a:r>
              <a:rPr lang="lv-LV" sz="2000" i="1" dirty="0"/>
              <a:t> </a:t>
            </a:r>
            <a:r>
              <a:rPr lang="lv-LV" sz="2000" dirty="0"/>
              <a:t>fails </a:t>
            </a:r>
            <a:r>
              <a:rPr lang="lv-LV" sz="2000" i="1" dirty="0" err="1"/>
              <a:t>Godot</a:t>
            </a:r>
            <a:r>
              <a:rPr lang="lv-LV" sz="2000" dirty="0"/>
              <a:t> dzinī.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CED376D8-74D0-526B-E095-46F43069965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796" b="84"/>
          <a:stretch>
            <a:fillRect/>
          </a:stretch>
        </p:blipFill>
        <p:spPr bwMode="auto">
          <a:xfrm>
            <a:off x="4549189" y="736089"/>
            <a:ext cx="6469085" cy="50868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90852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6A56-4559-C70A-405D-68C09A72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E4EF55A-D41A-4E91-76B2-24339626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Spēles laukuma ainas stadijas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5F1B4F4-28B6-429C-C988-46ACA1792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98" y="1289643"/>
            <a:ext cx="6943042" cy="3703751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1F2217BE-BEF7-D943-F38A-470CE6B296A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Dinamiskā struktūra;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Norāda stadiju maiņas secību;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Sākas pēc kartes datu ielādēšanas spēles laukuma ainā;</a:t>
            </a:r>
          </a:p>
        </p:txBody>
      </p:sp>
    </p:spTree>
    <p:extLst>
      <p:ext uri="{BB962C8B-B14F-4D97-AF65-F5344CB8AC3E}">
        <p14:creationId xmlns:p14="http://schemas.microsoft.com/office/powerpoint/2010/main" val="2091429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BBBB8-E39F-FF89-67EA-AC5734AB9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C959312-D64F-8C2E-AC3E-5F43F5EA8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Līmeņu atlases klases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DB5774A-F67B-3F08-0CB3-4188803D0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259"/>
          <a:stretch>
            <a:fillRect/>
          </a:stretch>
        </p:blipFill>
        <p:spPr bwMode="auto">
          <a:xfrm>
            <a:off x="5363832" y="544255"/>
            <a:ext cx="6201889" cy="20436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8FDA27-FA61-DE76-BC6C-D6DC639A85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6" r="-2660" b="52621"/>
          <a:stretch>
            <a:fillRect/>
          </a:stretch>
        </p:blipFill>
        <p:spPr bwMode="auto">
          <a:xfrm>
            <a:off x="5363832" y="2986264"/>
            <a:ext cx="4180463" cy="12838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E544298-E2C9-FD14-78B1-92F0EF70C7F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Datu struktūras;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LevelSet</a:t>
            </a:r>
            <a:r>
              <a:rPr lang="lv-LV" sz="2400" dirty="0"/>
              <a:t> ir līmeņu kopa;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LevelProps</a:t>
            </a:r>
            <a:r>
              <a:rPr lang="lv-LV" sz="2400" dirty="0"/>
              <a:t> ir līmeņa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LevelScore</a:t>
            </a:r>
            <a:r>
              <a:rPr lang="lv-LV" sz="2400" dirty="0"/>
              <a:t> glabā uzvarētā līmeņa datus, ar kuru var pārbaudīt nosacījumus nākamā līmeņa atslēgšanai.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4278493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3F4F-FD35-BD02-5FB8-DB430628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F2255C4-8C76-3DAE-7908-0A6552063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Testēšana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39A7219-8030-13CC-FA7A-F15BAA56D50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laikā un pēc projekta kompilēšanas tiek veikta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Melnās kastes un baltās kastes testēšanas metodoloģija tiks izmantota;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>
                <a:solidFill>
                  <a:schemeClr val="bg1"/>
                </a:solidFill>
              </a:rPr>
              <a:t>Izstrādes laikā testēšanai izmantota baltās kastes metodoloģija;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Pēc kompilēšanas melnās kastes metodoloģija.</a:t>
            </a:r>
            <a:endParaRPr lang="lv-LV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5095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6C19-A0C5-E532-5A48-49DBC343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4E8AE9A-055C-D157-1152-211600EC4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- Identifikatori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4F6316E-C323-2F44-3EDA-7FBA4F96448B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Saīsinājumi, kuri tiks izmantoti testēšanas žurnāla ierakstiem.</a:t>
            </a:r>
          </a:p>
        </p:txBody>
      </p:sp>
      <p:graphicFrame>
        <p:nvGraphicFramePr>
          <p:cNvPr id="3" name="Tabula 2">
            <a:extLst>
              <a:ext uri="{FF2B5EF4-FFF2-40B4-BE49-F238E27FC236}">
                <a16:creationId xmlns:a16="http://schemas.microsoft.com/office/drawing/2014/main" id="{0E93DA7F-5EB8-0A39-9FD3-2031AA5D1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363294"/>
              </p:ext>
            </p:extLst>
          </p:nvPr>
        </p:nvGraphicFramePr>
        <p:xfrm>
          <a:off x="3757284" y="113206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Žurnāla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Prasība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Testpiemērs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Testa žurnāls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KZ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Kļūdas ziņojums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  <p:graphicFrame>
        <p:nvGraphicFramePr>
          <p:cNvPr id="5" name="Tabula 4">
            <a:extLst>
              <a:ext uri="{FF2B5EF4-FFF2-40B4-BE49-F238E27FC236}">
                <a16:creationId xmlns:a16="http://schemas.microsoft.com/office/drawing/2014/main" id="{94E58E84-69D3-05BA-C142-52C775009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21295"/>
              </p:ext>
            </p:extLst>
          </p:nvPr>
        </p:nvGraphicFramePr>
        <p:xfrm>
          <a:off x="3757284" y="371157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Funkcionalitāšu grupas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Sākums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Līmeņa atlase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Spēles lauks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VS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Vispārīgie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40267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0A51D-3A8C-A93F-C0AE-D6305689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A064133-B7EA-BC66-5A30-C1AFB546B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Testpiemēru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E0DD2E3-7809-F038-414F-CA113CAB474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Saraksta fragments, kuras apraksta testējamas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0FB39449-BFFB-9080-A81A-AF745CE43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40"/>
          <a:stretch>
            <a:fillRect/>
          </a:stretch>
        </p:blipFill>
        <p:spPr>
          <a:xfrm>
            <a:off x="3553813" y="1966823"/>
            <a:ext cx="8247123" cy="2511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8636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631E6-FF56-0AC8-A1EE-E5CC934D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0564A3B-DDFA-0918-E9A5-11AE2C4EA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Žurnāla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AA778CF-B003-ECEB-037D-59671E24C620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Žurnāla fragments, kuras apraksta testa rezultātus.</a:t>
            </a:r>
            <a:endParaRPr lang="lv-LV" dirty="0"/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B77FE404-880E-563F-E239-562AEE86F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950" y="1890858"/>
            <a:ext cx="8479767" cy="605698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3070DC9-A881-3F95-19BA-4BF6774E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950" y="2496557"/>
            <a:ext cx="8479767" cy="223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8053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683" y="365125"/>
            <a:ext cx="4364965" cy="2621139"/>
          </a:xfrm>
        </p:spPr>
        <p:txBody>
          <a:bodyPr/>
          <a:lstStyle/>
          <a:p>
            <a:r>
              <a:rPr lang="lv-LV" dirty="0"/>
              <a:t>Projekta priekšskatījums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057" y="365125"/>
            <a:ext cx="4209689" cy="2621139"/>
          </a:xfrm>
        </p:spPr>
        <p:txBody>
          <a:bodyPr/>
          <a:lstStyle/>
          <a:p>
            <a:r>
              <a:rPr lang="lv-LV" dirty="0"/>
              <a:t>Projekta priekšskatījums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365125"/>
            <a:ext cx="4175184" cy="2621139"/>
          </a:xfrm>
        </p:spPr>
        <p:txBody>
          <a:bodyPr/>
          <a:lstStyle/>
          <a:p>
            <a:r>
              <a:rPr lang="lv-LV" dirty="0"/>
              <a:t>Projekta priekšskatījums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59" y="365125"/>
            <a:ext cx="4168687" cy="2621139"/>
          </a:xfrm>
        </p:spPr>
        <p:txBody>
          <a:bodyPr/>
          <a:lstStyle/>
          <a:p>
            <a:r>
              <a:rPr lang="lv-LV" dirty="0"/>
              <a:t>Projekta priekšskatījums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1906</TotalTime>
  <Words>1280</Words>
  <Application>Microsoft Office PowerPoint</Application>
  <PresentationFormat>Platekrāna</PresentationFormat>
  <Paragraphs>280</Paragraphs>
  <Slides>49</Slides>
  <Notes>8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49</vt:i4>
      </vt:variant>
    </vt:vector>
  </HeadingPairs>
  <TitlesOfParts>
    <vt:vector size="53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Sistēmas pārvaldnieks</vt:lpstr>
      <vt:lpstr>Modeļi – Sistēmas pārvaldnieks</vt:lpstr>
      <vt:lpstr>Modeļi – Ainas</vt:lpstr>
      <vt:lpstr>Modeļi – Ainas</vt:lpstr>
      <vt:lpstr>Modeļi – Ainas</vt:lpstr>
      <vt:lpstr>Modeļi – Ainas</vt:lpstr>
      <vt:lpstr>Modeļi – Karte</vt:lpstr>
      <vt:lpstr>Modeļi – Karte</vt:lpstr>
      <vt:lpstr>Modeļi – Karte</vt:lpstr>
      <vt:lpstr>Modeļi – Kartes objekti</vt:lpstr>
      <vt:lpstr>Modeļi – Kartes objektu īpašības</vt:lpstr>
      <vt:lpstr>Modeļi – Lādiņš</vt:lpstr>
      <vt:lpstr>Modeļi – Kartes resurss</vt:lpstr>
      <vt:lpstr>Modeļi – Spēles laukuma ainas stadijas</vt:lpstr>
      <vt:lpstr>Modeļi – Līmeņu atlases klases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Testēšana</vt:lpstr>
      <vt:lpstr>Testēšana - Identifikatori</vt:lpstr>
      <vt:lpstr>Testēšana – Testpiemēru fragments</vt:lpstr>
      <vt:lpstr>Testēšana – Žurnāla fragments</vt:lpstr>
      <vt:lpstr>Secinājumi</vt:lpstr>
      <vt:lpstr>Ainas priekšskatījumi</vt:lpstr>
      <vt:lpstr>Projekta priekšskatījums – Sākuma aina</vt:lpstr>
      <vt:lpstr>Projekta priekšskatījums – Līmeņu atlase</vt:lpstr>
      <vt:lpstr>Projekta priekšskatījums – Spēles laukums</vt:lpstr>
      <vt:lpstr>Projekta priekšskatījums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329</cp:revision>
  <dcterms:created xsi:type="dcterms:W3CDTF">2026-06-09T16:32:45Z</dcterms:created>
  <dcterms:modified xsi:type="dcterms:W3CDTF">2026-06-14T21:40:18Z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